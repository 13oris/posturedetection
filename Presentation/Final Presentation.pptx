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4" r:id="rId3"/>
    <p:sldId id="270" r:id="rId4"/>
    <p:sldId id="265" r:id="rId5"/>
    <p:sldId id="269" r:id="rId6"/>
    <p:sldId id="272" r:id="rId7"/>
    <p:sldId id="261" r:id="rId8"/>
    <p:sldId id="262" r:id="rId9"/>
    <p:sldId id="271" r:id="rId10"/>
    <p:sldId id="260" r:id="rId11"/>
  </p:sldIdLst>
  <p:sldSz cx="11520488" cy="6480175"/>
  <p:notesSz cx="6858000" cy="9144000"/>
  <p:embeddedFontLst>
    <p:embeddedFont>
      <p:font typeface="NanumSquareOTF" panose="020B0600000101010101" pitchFamily="34" charset="-127"/>
      <p:regular r:id="rId14"/>
    </p:embeddedFont>
    <p:embeddedFont>
      <p:font typeface="Paperlogy 4 Regular" pitchFamily="2" charset="-127"/>
      <p:regular r:id="rId15"/>
    </p:embeddedFont>
    <p:embeddedFont>
      <p:font typeface="Paperlogy 6 SemiBold" pitchFamily="2" charset="-127"/>
      <p:regular r:id="rId16"/>
      <p:bold r:id="rId17"/>
    </p:embeddedFont>
    <p:embeddedFont>
      <p:font typeface="Paperlogy 7 Bold" pitchFamily="2" charset="-127"/>
      <p:bold r:id="rId18"/>
    </p:embeddedFont>
    <p:embeddedFont>
      <p:font typeface="Paperlogy 8 ExtraBold" pitchFamily="2" charset="-127"/>
      <p:bold r:id="rId19"/>
    </p:embeddedFont>
    <p:embeddedFont>
      <p:font typeface="Paperlogy 9 Black" pitchFamily="2" charset="-127"/>
      <p:bold r:id="rId20"/>
    </p:embeddedFont>
  </p:embeddedFontLst>
  <p:defaultTextStyle>
    <a:defPPr>
      <a:defRPr lang="ko-KR"/>
    </a:defPPr>
    <a:lvl1pPr marL="0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9488"/>
    <a:srgbClr val="FE6C6B"/>
    <a:srgbClr val="EF871D"/>
    <a:srgbClr val="5EC5C0"/>
    <a:srgbClr val="76F8F0"/>
    <a:srgbClr val="461D1D"/>
    <a:srgbClr val="EBF9F9"/>
    <a:srgbClr val="016B66"/>
    <a:srgbClr val="46A4F6"/>
    <a:srgbClr val="3C4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26" autoAdjust="0"/>
    <p:restoredTop sz="94684"/>
  </p:normalViewPr>
  <p:slideViewPr>
    <p:cSldViewPr snapToGrid="0" showGuides="1">
      <p:cViewPr varScale="1">
        <p:scale>
          <a:sx n="126" d="100"/>
          <a:sy n="126" d="100"/>
        </p:scale>
        <p:origin x="208" y="7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8B366AF-FBE7-E7B1-AC39-2698CFF9A8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3A0685-49AC-279C-20A3-5DA637C98D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13F5C-76C2-264D-995F-6CDE264EF5DA}" type="datetimeFigureOut">
              <a:rPr kumimoji="1" lang="ko-Kore-KR" altLang="en-US" smtClean="0"/>
              <a:t>6/1/26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14D240-C94E-57A0-E1DA-BFC38CA7C8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8029B4-4EFA-D24C-5D7B-0B347F5BF6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31815-6C22-5841-94A1-76183F74486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41683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43206-BC5F-9744-AC6F-C18B44FE874F}" type="datetimeFigureOut">
              <a:rPr kumimoji="1" lang="ko-Kore-KR" altLang="en-US" smtClean="0"/>
              <a:t>6/1/26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02B60-AB88-DB45-8452-5BA1C6B2A21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59918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02B60-AB88-DB45-8452-5BA1C6B2A21A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83384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02B60-AB88-DB45-8452-5BA1C6B2A21A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6498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4745426-8F21-0055-0502-AE03114BE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68015" y="5941628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defRPr>
            </a:lvl1pPr>
          </a:lstStyle>
          <a:p>
            <a:fld id="{176241FA-280E-4944-9ABE-CE4DCAF2ACE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89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4745426-8F21-0055-0502-AE03114BE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68015" y="5941628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defRPr>
            </a:lvl1pPr>
          </a:lstStyle>
          <a:p>
            <a:fld id="{176241FA-280E-4944-9ABE-CE4DCAF2ACE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092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72528-D5C3-44BA-B26C-D81FB8F7ED35}" type="datetimeFigureOut">
              <a:rPr lang="ko-KR" altLang="en-US" smtClean="0"/>
              <a:t>2026. 6. 1.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241FA-280E-4944-9ABE-CE4DCAF2ACE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247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864017" rtl="0" eaLnBrk="1" latinLnBrk="1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28" userDrawn="1">
          <p15:clr>
            <a:srgbClr val="F26B43"/>
          </p15:clr>
        </p15:guide>
        <p15:guide id="3" pos="4082" userDrawn="1">
          <p15:clr>
            <a:srgbClr val="A4A3A4"/>
          </p15:clr>
        </p15:guide>
        <p15:guide id="4" pos="3855" userDrawn="1">
          <p15:clr>
            <a:srgbClr val="A4A3A4"/>
          </p15:clr>
        </p15:guide>
        <p15:guide id="5" pos="4309" userDrawn="1">
          <p15:clr>
            <a:srgbClr val="A4A3A4"/>
          </p15:clr>
        </p15:guide>
        <p15:guide id="6" pos="4536" userDrawn="1">
          <p15:clr>
            <a:srgbClr val="A4A3A4"/>
          </p15:clr>
        </p15:guide>
        <p15:guide id="7" pos="4762" userDrawn="1">
          <p15:clr>
            <a:srgbClr val="A4A3A4"/>
          </p15:clr>
        </p15:guide>
        <p15:guide id="8" pos="4989" userDrawn="1">
          <p15:clr>
            <a:srgbClr val="A4A3A4"/>
          </p15:clr>
        </p15:guide>
        <p15:guide id="9" pos="5216" userDrawn="1">
          <p15:clr>
            <a:srgbClr val="A4A3A4"/>
          </p15:clr>
        </p15:guide>
        <p15:guide id="10" pos="5443" userDrawn="1">
          <p15:clr>
            <a:srgbClr val="A4A3A4"/>
          </p15:clr>
        </p15:guide>
        <p15:guide id="11" pos="5670" userDrawn="1">
          <p15:clr>
            <a:srgbClr val="A4A3A4"/>
          </p15:clr>
        </p15:guide>
        <p15:guide id="12" pos="5896" userDrawn="1">
          <p15:clr>
            <a:srgbClr val="A4A3A4"/>
          </p15:clr>
        </p15:guide>
        <p15:guide id="13" pos="6123" userDrawn="1">
          <p15:clr>
            <a:srgbClr val="A4A3A4"/>
          </p15:clr>
        </p15:guide>
        <p15:guide id="14" pos="6350" userDrawn="1">
          <p15:clr>
            <a:srgbClr val="A4A3A4"/>
          </p15:clr>
        </p15:guide>
        <p15:guide id="15" pos="6577" userDrawn="1">
          <p15:clr>
            <a:srgbClr val="A4A3A4"/>
          </p15:clr>
        </p15:guide>
        <p15:guide id="16" pos="6804" userDrawn="1">
          <p15:clr>
            <a:srgbClr val="A4A3A4"/>
          </p15:clr>
        </p15:guide>
        <p15:guide id="17" pos="7030" userDrawn="1">
          <p15:clr>
            <a:srgbClr val="A4A3A4"/>
          </p15:clr>
        </p15:guide>
        <p15:guide id="18" pos="3402" userDrawn="1">
          <p15:clr>
            <a:srgbClr val="A4A3A4"/>
          </p15:clr>
        </p15:guide>
        <p15:guide id="19" pos="3175" userDrawn="1">
          <p15:clr>
            <a:srgbClr val="A4A3A4"/>
          </p15:clr>
        </p15:guide>
        <p15:guide id="20" pos="2948" userDrawn="1">
          <p15:clr>
            <a:srgbClr val="A4A3A4"/>
          </p15:clr>
        </p15:guide>
        <p15:guide id="21" pos="2721" userDrawn="1">
          <p15:clr>
            <a:srgbClr val="A4A3A4"/>
          </p15:clr>
        </p15:guide>
        <p15:guide id="22" pos="2495" userDrawn="1">
          <p15:clr>
            <a:srgbClr val="A4A3A4"/>
          </p15:clr>
        </p15:guide>
        <p15:guide id="23" pos="2268" userDrawn="1">
          <p15:clr>
            <a:srgbClr val="A4A3A4"/>
          </p15:clr>
        </p15:guide>
        <p15:guide id="24" pos="227" userDrawn="1">
          <p15:clr>
            <a:srgbClr val="A4A3A4"/>
          </p15:clr>
        </p15:guide>
        <p15:guide id="25" pos="453" userDrawn="1">
          <p15:clr>
            <a:srgbClr val="A4A3A4"/>
          </p15:clr>
        </p15:guide>
        <p15:guide id="26" pos="680" userDrawn="1">
          <p15:clr>
            <a:srgbClr val="A4A3A4"/>
          </p15:clr>
        </p15:guide>
        <p15:guide id="27" pos="907" userDrawn="1">
          <p15:clr>
            <a:srgbClr val="A4A3A4"/>
          </p15:clr>
        </p15:guide>
        <p15:guide id="28" pos="1134" userDrawn="1">
          <p15:clr>
            <a:srgbClr val="A4A3A4"/>
          </p15:clr>
        </p15:guide>
        <p15:guide id="29" pos="1361" userDrawn="1">
          <p15:clr>
            <a:srgbClr val="A4A3A4"/>
          </p15:clr>
        </p15:guide>
        <p15:guide id="30" pos="1587" userDrawn="1">
          <p15:clr>
            <a:srgbClr val="A4A3A4"/>
          </p15:clr>
        </p15:guide>
        <p15:guide id="31" pos="1814" userDrawn="1">
          <p15:clr>
            <a:srgbClr val="A4A3A4"/>
          </p15:clr>
        </p15:guide>
        <p15:guide id="32" pos="2041" userDrawn="1">
          <p15:clr>
            <a:srgbClr val="A4A3A4"/>
          </p15:clr>
        </p15:guide>
        <p15:guide id="33" orient="horz" pos="227" userDrawn="1">
          <p15:clr>
            <a:srgbClr val="A4A3A4"/>
          </p15:clr>
        </p15:guide>
        <p15:guide id="34" orient="horz" pos="453" userDrawn="1">
          <p15:clr>
            <a:srgbClr val="A4A3A4"/>
          </p15:clr>
        </p15:guide>
        <p15:guide id="35" orient="horz" pos="680" userDrawn="1">
          <p15:clr>
            <a:srgbClr val="A4A3A4"/>
          </p15:clr>
        </p15:guide>
        <p15:guide id="36" orient="horz" pos="907" userDrawn="1">
          <p15:clr>
            <a:srgbClr val="A4A3A4"/>
          </p15:clr>
        </p15:guide>
        <p15:guide id="37" orient="horz" pos="1134" userDrawn="1">
          <p15:clr>
            <a:srgbClr val="A4A3A4"/>
          </p15:clr>
        </p15:guide>
        <p15:guide id="38" orient="horz" pos="1361" userDrawn="1">
          <p15:clr>
            <a:srgbClr val="A4A3A4"/>
          </p15:clr>
        </p15:guide>
        <p15:guide id="39" orient="horz" pos="1587" userDrawn="1">
          <p15:clr>
            <a:srgbClr val="A4A3A4"/>
          </p15:clr>
        </p15:guide>
        <p15:guide id="40" orient="horz" pos="1814" userDrawn="1">
          <p15:clr>
            <a:srgbClr val="A4A3A4"/>
          </p15:clr>
        </p15:guide>
        <p15:guide id="41" orient="horz" pos="2268" userDrawn="1">
          <p15:clr>
            <a:srgbClr val="A4A3A4"/>
          </p15:clr>
        </p15:guide>
        <p15:guide id="42" orient="horz" pos="2495" userDrawn="1">
          <p15:clr>
            <a:srgbClr val="A4A3A4"/>
          </p15:clr>
        </p15:guide>
        <p15:guide id="43" orient="horz" pos="2721" userDrawn="1">
          <p15:clr>
            <a:srgbClr val="A4A3A4"/>
          </p15:clr>
        </p15:guide>
        <p15:guide id="44" orient="horz" pos="2948" userDrawn="1">
          <p15:clr>
            <a:srgbClr val="A4A3A4"/>
          </p15:clr>
        </p15:guide>
        <p15:guide id="45" orient="horz" pos="3175" userDrawn="1">
          <p15:clr>
            <a:srgbClr val="A4A3A4"/>
          </p15:clr>
        </p15:guide>
        <p15:guide id="46" orient="horz" pos="3402" userDrawn="1">
          <p15:clr>
            <a:srgbClr val="A4A3A4"/>
          </p15:clr>
        </p15:guide>
        <p15:guide id="47" orient="horz" pos="3629" userDrawn="1">
          <p15:clr>
            <a:srgbClr val="A4A3A4"/>
          </p15:clr>
        </p15:guide>
        <p15:guide id="48" orient="horz" pos="385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CB8AC30C-F994-5FB6-4470-7E17A2D54A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371"/>
          <a:stretch>
            <a:fillRect/>
          </a:stretch>
        </p:blipFill>
        <p:spPr>
          <a:xfrm>
            <a:off x="1079500" y="0"/>
            <a:ext cx="10440988" cy="648371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E1412C-38D8-2D75-0CBE-8E5AD5A55E97}"/>
              </a:ext>
            </a:extLst>
          </p:cNvPr>
          <p:cNvSpPr/>
          <p:nvPr/>
        </p:nvSpPr>
        <p:spPr>
          <a:xfrm>
            <a:off x="0" y="0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5EC5C0">
                  <a:alpha val="30000"/>
                </a:srgbClr>
              </a:gs>
              <a:gs pos="30000">
                <a:srgbClr val="309994">
                  <a:alpha val="50000"/>
                </a:srgbClr>
              </a:gs>
              <a:gs pos="60000">
                <a:srgbClr val="016B6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3CD0C6-DB25-1357-A4F9-5389CDA89683}"/>
              </a:ext>
            </a:extLst>
          </p:cNvPr>
          <p:cNvSpPr txBox="1"/>
          <p:nvPr/>
        </p:nvSpPr>
        <p:spPr>
          <a:xfrm>
            <a:off x="719137" y="624797"/>
            <a:ext cx="7200901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3600" b="1" dirty="0">
                <a:solidFill>
                  <a:schemeClr val="bg1"/>
                </a:solidFill>
                <a:latin typeface="Paperlogy 9 Black" pitchFamily="2" charset="-127"/>
                <a:ea typeface="Paperlogy 9 Black" pitchFamily="2" charset="-127"/>
              </a:rPr>
              <a:t>Smartphone IMU-Based </a:t>
            </a:r>
          </a:p>
          <a:p>
            <a:r>
              <a:rPr kumimoji="1" lang="en-US" altLang="ko-KR" sz="3600" b="1" dirty="0">
                <a:solidFill>
                  <a:schemeClr val="bg1"/>
                </a:solidFill>
                <a:latin typeface="Paperlogy 9 Black" pitchFamily="2" charset="-127"/>
                <a:ea typeface="Paperlogy 9 Black" pitchFamily="2" charset="-127"/>
              </a:rPr>
              <a:t>Real-Time </a:t>
            </a:r>
          </a:p>
          <a:p>
            <a:r>
              <a:rPr kumimoji="1" lang="en-US" altLang="ko-KR" sz="3600" b="1" dirty="0">
                <a:solidFill>
                  <a:schemeClr val="bg1"/>
                </a:solidFill>
                <a:latin typeface="Paperlogy 9 Black" pitchFamily="2" charset="-127"/>
                <a:ea typeface="Paperlogy 9 Black" pitchFamily="2" charset="-127"/>
              </a:rPr>
              <a:t>Posture Correction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79E741-8595-C6E9-3E45-EB1282036D47}"/>
              </a:ext>
            </a:extLst>
          </p:cNvPr>
          <p:cNvSpPr txBox="1"/>
          <p:nvPr/>
        </p:nvSpPr>
        <p:spPr>
          <a:xfrm>
            <a:off x="730155" y="5432580"/>
            <a:ext cx="601673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dirty="0">
                <a:solidFill>
                  <a:schemeClr val="bg1">
                    <a:lumMod val="8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Presented by</a:t>
            </a:r>
          </a:p>
          <a:p>
            <a:r>
              <a:rPr kumimoji="1" lang="en-US" altLang="ko-KR" sz="1400" dirty="0" err="1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HyunJong</a:t>
            </a:r>
            <a:r>
              <a:rPr kumimoji="1" lang="en-US" altLang="ko-KR" sz="1400" dirty="0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 Park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C1499B5-B717-BFA1-504D-1435386AB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54" y="4088361"/>
            <a:ext cx="528730" cy="54854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EC5B8D5-3B07-9954-D54F-6EB3E2FDC4AB}"/>
              </a:ext>
            </a:extLst>
          </p:cNvPr>
          <p:cNvSpPr txBox="1"/>
          <p:nvPr/>
        </p:nvSpPr>
        <p:spPr>
          <a:xfrm>
            <a:off x="719138" y="2878693"/>
            <a:ext cx="6016738" cy="5161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200" b="1" dirty="0">
                <a:solidFill>
                  <a:srgbClr val="5EC5C0"/>
                </a:solidFill>
                <a:latin typeface="Paperlogy 6 SemiBold" pitchFamily="2" charset="-127"/>
                <a:ea typeface="Paperlogy 6 SemiBold" pitchFamily="2" charset="-127"/>
              </a:rPr>
              <a:t>Mobile Computing and Its Application </a:t>
            </a:r>
          </a:p>
          <a:p>
            <a:pPr>
              <a:lnSpc>
                <a:spcPct val="150000"/>
              </a:lnSpc>
            </a:pPr>
            <a:r>
              <a:rPr kumimoji="1" lang="en-US" altLang="ko-KR" sz="1200" b="1" dirty="0">
                <a:solidFill>
                  <a:srgbClr val="5EC5C0"/>
                </a:solidFill>
                <a:latin typeface="Paperlogy 6 SemiBold" pitchFamily="2" charset="-127"/>
                <a:ea typeface="Paperlogy 6 SemiBold" pitchFamily="2" charset="-127"/>
              </a:rPr>
              <a:t>Mini Project</a:t>
            </a: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7386A3B9-A365-C6DC-48B8-4C2D88B80E79}"/>
              </a:ext>
            </a:extLst>
          </p:cNvPr>
          <p:cNvCxnSpPr/>
          <p:nvPr/>
        </p:nvCxnSpPr>
        <p:spPr>
          <a:xfrm>
            <a:off x="730154" y="2582741"/>
            <a:ext cx="720000" cy="0"/>
          </a:xfrm>
          <a:prstGeom prst="line">
            <a:avLst/>
          </a:prstGeom>
          <a:ln w="44450">
            <a:solidFill>
              <a:srgbClr val="5EC5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09F9CEA-9176-193A-B14B-CA376BBBBBA3}"/>
              </a:ext>
            </a:extLst>
          </p:cNvPr>
          <p:cNvSpPr txBox="1"/>
          <p:nvPr/>
        </p:nvSpPr>
        <p:spPr>
          <a:xfrm>
            <a:off x="1528761" y="4095213"/>
            <a:ext cx="1981204" cy="47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Seoul</a:t>
            </a:r>
            <a:r>
              <a:rPr kumimoji="1" lang="ko-KR" altLang="en-US" sz="1200" dirty="0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kumimoji="1" lang="en-US" altLang="ko-KR" sz="1200" dirty="0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National</a:t>
            </a:r>
            <a:r>
              <a:rPr kumimoji="1" lang="ko-KR" altLang="en-US" sz="1200" dirty="0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kumimoji="1" lang="en-US" altLang="ko-KR" sz="1200" dirty="0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University</a:t>
            </a:r>
          </a:p>
          <a:p>
            <a:pPr>
              <a:lnSpc>
                <a:spcPct val="150000"/>
              </a:lnSpc>
            </a:pPr>
            <a:r>
              <a:rPr kumimoji="1" lang="en-US" altLang="ko-KR" sz="1000" dirty="0">
                <a:solidFill>
                  <a:schemeClr val="bg1">
                    <a:lumMod val="7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Spring 2026</a:t>
            </a:r>
          </a:p>
        </p:txBody>
      </p: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03BDC1C6-12E0-9D0A-7997-107A7252C841}"/>
              </a:ext>
            </a:extLst>
          </p:cNvPr>
          <p:cNvCxnSpPr>
            <a:cxnSpLocks/>
          </p:cNvCxnSpPr>
          <p:nvPr/>
        </p:nvCxnSpPr>
        <p:spPr>
          <a:xfrm>
            <a:off x="1393822" y="4045316"/>
            <a:ext cx="0" cy="63463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258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BEFED-A7EB-8220-52F5-1E2EE2FE1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04CF31-B7A0-8052-620A-4634BCF6CB9D}"/>
              </a:ext>
            </a:extLst>
          </p:cNvPr>
          <p:cNvSpPr txBox="1"/>
          <p:nvPr/>
        </p:nvSpPr>
        <p:spPr>
          <a:xfrm>
            <a:off x="719138" y="534472"/>
            <a:ext cx="216058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Goal &amp; Usage Scenario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0529C-2929-D768-E64F-05757384EF36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Detect poor neck posture during smartphone use</a:t>
            </a:r>
            <a:endParaRPr kumimoji="1" lang="ko-KR" altLang="en-US" sz="2400" b="1" dirty="0">
              <a:solidFill>
                <a:srgbClr val="0E9488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85D92D4-08FB-A974-AF61-054247FBBCF3}"/>
              </a:ext>
            </a:extLst>
          </p:cNvPr>
          <p:cNvGrpSpPr/>
          <p:nvPr/>
        </p:nvGrpSpPr>
        <p:grpSpPr>
          <a:xfrm>
            <a:off x="4320380" y="1800223"/>
            <a:ext cx="2881313" cy="3600451"/>
            <a:chOff x="719137" y="1800223"/>
            <a:chExt cx="2881313" cy="3600451"/>
          </a:xfrm>
        </p:grpSpPr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3DA01439-3B82-D63E-BF8B-F45FD8F1CDD9}"/>
                </a:ext>
              </a:extLst>
            </p:cNvPr>
            <p:cNvSpPr/>
            <p:nvPr/>
          </p:nvSpPr>
          <p:spPr>
            <a:xfrm>
              <a:off x="719137" y="1800223"/>
              <a:ext cx="2881313" cy="3600451"/>
            </a:xfrm>
            <a:prstGeom prst="roundRect">
              <a:avLst>
                <a:gd name="adj" fmla="val 9518"/>
              </a:avLst>
            </a:prstGeom>
            <a:solidFill>
              <a:srgbClr val="FE6C6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22D458-C01F-540D-C7D5-59E9E738328B}"/>
                </a:ext>
              </a:extLst>
            </p:cNvPr>
            <p:cNvSpPr txBox="1"/>
            <p:nvPr/>
          </p:nvSpPr>
          <p:spPr>
            <a:xfrm>
              <a:off x="1077162" y="3041991"/>
              <a:ext cx="928139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ko-KR" sz="1600" b="1" dirty="0">
                  <a:solidFill>
                    <a:srgbClr val="FE6C6B"/>
                  </a:solidFill>
                  <a:latin typeface="Paperlogy 7 Bold" pitchFamily="2" charset="-127"/>
                  <a:ea typeface="Paperlogy 7 Bold" pitchFamily="2" charset="-127"/>
                </a:rPr>
                <a:t>Problem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459123D-EC45-7EFD-6821-6F2E0D8E57C0}"/>
                </a:ext>
              </a:extLst>
            </p:cNvPr>
            <p:cNvSpPr txBox="1"/>
            <p:nvPr/>
          </p:nvSpPr>
          <p:spPr>
            <a:xfrm>
              <a:off x="1079500" y="3450840"/>
              <a:ext cx="216058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ko-KR" sz="1200" dirty="0">
                  <a:latin typeface="Paperlogy 4 Regular" pitchFamily="2" charset="-127"/>
                  <a:ea typeface="Paperlogy 4 Regular" pitchFamily="2" charset="-127"/>
                </a:rPr>
                <a:t>Users often maintain poor neck posture when using smartphones,</a:t>
              </a:r>
              <a:r>
                <a:rPr kumimoji="1" lang="ko-KR" altLang="en-US" sz="1200" dirty="0">
                  <a:latin typeface="Paperlogy 4 Regular" pitchFamily="2" charset="-127"/>
                  <a:ea typeface="Paperlogy 4 Regular" pitchFamily="2" charset="-127"/>
                </a:rPr>
                <a:t> </a:t>
              </a:r>
              <a:r>
                <a:rPr kumimoji="1" lang="en-US" altLang="ko-KR" sz="1200" dirty="0">
                  <a:latin typeface="Paperlogy 4 Regular" pitchFamily="2" charset="-127"/>
                  <a:ea typeface="Paperlogy 4 Regular" pitchFamily="2" charset="-127"/>
                </a:rPr>
                <a:t>which puts strain on the neck and can lead to neck pain and forward head posture.</a:t>
              </a:r>
            </a:p>
          </p:txBody>
        </p:sp>
        <p:sp>
          <p:nvSpPr>
            <p:cNvPr id="25" name="그래픽 23" descr="경고 단색으로 채워진">
              <a:extLst>
                <a:ext uri="{FF2B5EF4-FFF2-40B4-BE49-F238E27FC236}">
                  <a16:creationId xmlns:a16="http://schemas.microsoft.com/office/drawing/2014/main" id="{B85FEC5D-BC9A-8266-0824-0CB436646EB3}"/>
                </a:ext>
              </a:extLst>
            </p:cNvPr>
            <p:cNvSpPr/>
            <p:nvPr/>
          </p:nvSpPr>
          <p:spPr>
            <a:xfrm>
              <a:off x="1079500" y="2160588"/>
              <a:ext cx="720000" cy="720000"/>
            </a:xfrm>
            <a:custGeom>
              <a:avLst/>
              <a:gdLst>
                <a:gd name="csX0" fmla="*/ 816511 w 821491"/>
                <a:gd name="csY0" fmla="*/ 666988 h 724138"/>
                <a:gd name="csX1" fmla="*/ 444083 w 821491"/>
                <a:gd name="csY1" fmla="*/ 19288 h 724138"/>
                <a:gd name="csX2" fmla="*/ 378361 w 821491"/>
                <a:gd name="csY2" fmla="*/ 19288 h 724138"/>
                <a:gd name="csX3" fmla="*/ 4981 w 821491"/>
                <a:gd name="csY3" fmla="*/ 666988 h 724138"/>
                <a:gd name="csX4" fmla="*/ 38318 w 821491"/>
                <a:gd name="csY4" fmla="*/ 724138 h 724138"/>
                <a:gd name="csX5" fmla="*/ 410746 w 821491"/>
                <a:gd name="csY5" fmla="*/ 724138 h 724138"/>
                <a:gd name="csX6" fmla="*/ 783173 w 821491"/>
                <a:gd name="csY6" fmla="*/ 724138 h 724138"/>
                <a:gd name="csX7" fmla="*/ 816511 w 821491"/>
                <a:gd name="csY7" fmla="*/ 666988 h 724138"/>
                <a:gd name="csX8" fmla="*/ 382171 w 821491"/>
                <a:gd name="csY8" fmla="*/ 171688 h 724138"/>
                <a:gd name="csX9" fmla="*/ 439321 w 821491"/>
                <a:gd name="csY9" fmla="*/ 171688 h 724138"/>
                <a:gd name="csX10" fmla="*/ 439321 w 821491"/>
                <a:gd name="csY10" fmla="*/ 505063 h 724138"/>
                <a:gd name="csX11" fmla="*/ 382171 w 821491"/>
                <a:gd name="csY11" fmla="*/ 505063 h 724138"/>
                <a:gd name="csX12" fmla="*/ 382171 w 821491"/>
                <a:gd name="csY12" fmla="*/ 171688 h 724138"/>
                <a:gd name="csX13" fmla="*/ 410746 w 821491"/>
                <a:gd name="csY13" fmla="*/ 638413 h 724138"/>
                <a:gd name="csX14" fmla="*/ 363121 w 821491"/>
                <a:gd name="csY14" fmla="*/ 590788 h 724138"/>
                <a:gd name="csX15" fmla="*/ 410746 w 821491"/>
                <a:gd name="csY15" fmla="*/ 543163 h 724138"/>
                <a:gd name="csX16" fmla="*/ 458371 w 821491"/>
                <a:gd name="csY16" fmla="*/ 590788 h 724138"/>
                <a:gd name="csX17" fmla="*/ 410746 w 821491"/>
                <a:gd name="csY17" fmla="*/ 638413 h 7241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821491" h="724138">
                  <a:moveTo>
                    <a:pt x="816511" y="666988"/>
                  </a:moveTo>
                  <a:lnTo>
                    <a:pt x="444083" y="19288"/>
                  </a:lnTo>
                  <a:cubicBezTo>
                    <a:pt x="429796" y="-6429"/>
                    <a:pt x="392648" y="-6429"/>
                    <a:pt x="378361" y="19288"/>
                  </a:cubicBezTo>
                  <a:lnTo>
                    <a:pt x="4981" y="666988"/>
                  </a:lnTo>
                  <a:cubicBezTo>
                    <a:pt x="-9307" y="692706"/>
                    <a:pt x="8791" y="724138"/>
                    <a:pt x="38318" y="724138"/>
                  </a:cubicBezTo>
                  <a:lnTo>
                    <a:pt x="410746" y="724138"/>
                  </a:lnTo>
                  <a:lnTo>
                    <a:pt x="783173" y="724138"/>
                  </a:lnTo>
                  <a:cubicBezTo>
                    <a:pt x="812701" y="724138"/>
                    <a:pt x="830798" y="692706"/>
                    <a:pt x="816511" y="666988"/>
                  </a:cubicBezTo>
                  <a:close/>
                  <a:moveTo>
                    <a:pt x="382171" y="171688"/>
                  </a:moveTo>
                  <a:lnTo>
                    <a:pt x="439321" y="171688"/>
                  </a:lnTo>
                  <a:lnTo>
                    <a:pt x="439321" y="505063"/>
                  </a:lnTo>
                  <a:lnTo>
                    <a:pt x="382171" y="505063"/>
                  </a:lnTo>
                  <a:lnTo>
                    <a:pt x="382171" y="171688"/>
                  </a:lnTo>
                  <a:close/>
                  <a:moveTo>
                    <a:pt x="410746" y="638413"/>
                  </a:moveTo>
                  <a:cubicBezTo>
                    <a:pt x="384076" y="638413"/>
                    <a:pt x="363121" y="617458"/>
                    <a:pt x="363121" y="590788"/>
                  </a:cubicBezTo>
                  <a:cubicBezTo>
                    <a:pt x="363121" y="564118"/>
                    <a:pt x="384076" y="543163"/>
                    <a:pt x="410746" y="543163"/>
                  </a:cubicBezTo>
                  <a:cubicBezTo>
                    <a:pt x="437416" y="543163"/>
                    <a:pt x="458371" y="564118"/>
                    <a:pt x="458371" y="590788"/>
                  </a:cubicBezTo>
                  <a:cubicBezTo>
                    <a:pt x="458371" y="617458"/>
                    <a:pt x="437416" y="638413"/>
                    <a:pt x="410746" y="638413"/>
                  </a:cubicBezTo>
                  <a:close/>
                </a:path>
              </a:pathLst>
            </a:custGeom>
            <a:solidFill>
              <a:srgbClr val="FE6C6B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54C9AE-EBA1-5B70-4482-25FC12F92044}"/>
              </a:ext>
            </a:extLst>
          </p:cNvPr>
          <p:cNvGrpSpPr/>
          <p:nvPr/>
        </p:nvGrpSpPr>
        <p:grpSpPr>
          <a:xfrm>
            <a:off x="7920036" y="1800223"/>
            <a:ext cx="2881314" cy="3600451"/>
            <a:chOff x="4318793" y="1800223"/>
            <a:chExt cx="2881314" cy="3600451"/>
          </a:xfrm>
        </p:grpSpPr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353F22D3-C9A4-EFB6-A077-62DEE7D878D5}"/>
                </a:ext>
              </a:extLst>
            </p:cNvPr>
            <p:cNvSpPr/>
            <p:nvPr/>
          </p:nvSpPr>
          <p:spPr>
            <a:xfrm>
              <a:off x="4318793" y="1800223"/>
              <a:ext cx="2881314" cy="3600451"/>
            </a:xfrm>
            <a:prstGeom prst="roundRect">
              <a:avLst>
                <a:gd name="adj" fmla="val 9518"/>
              </a:avLst>
            </a:prstGeom>
            <a:solidFill>
              <a:srgbClr val="EB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D1F72B3-B6B1-F328-5343-BE461A770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9151" y="2160588"/>
              <a:ext cx="719138" cy="71913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070701-6C58-867C-8D2C-2D0ABC348CC3}"/>
                </a:ext>
              </a:extLst>
            </p:cNvPr>
            <p:cNvSpPr txBox="1"/>
            <p:nvPr/>
          </p:nvSpPr>
          <p:spPr>
            <a:xfrm>
              <a:off x="4689280" y="3041991"/>
              <a:ext cx="479555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ko-KR" sz="1600" b="1" dirty="0">
                  <a:solidFill>
                    <a:srgbClr val="0E9488"/>
                  </a:solidFill>
                  <a:latin typeface="Paperlogy 7 Bold" pitchFamily="2" charset="-127"/>
                  <a:ea typeface="Paperlogy 7 Bold" pitchFamily="2" charset="-127"/>
                </a:rPr>
                <a:t>Goal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64B1FAD-17B7-FDC0-6822-BC8264625943}"/>
                </a:ext>
              </a:extLst>
            </p:cNvPr>
            <p:cNvSpPr txBox="1"/>
            <p:nvPr/>
          </p:nvSpPr>
          <p:spPr>
            <a:xfrm>
              <a:off x="4679148" y="3450840"/>
              <a:ext cx="2160591" cy="14773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ko-KR" sz="1200" dirty="0">
                  <a:latin typeface="Paperlogy 4 Regular" pitchFamily="2" charset="-127"/>
                  <a:ea typeface="Paperlogy 4 Regular" pitchFamily="2" charset="-127"/>
                </a:rPr>
                <a:t>Develop a lightweight, real-time posture correction system using only built-in smartphone IMU sensors (accelerometer &amp; gyroscope) as an everyday posture-awareness assistant.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3B32538-940A-CD34-012F-192FE7B6E1D0}"/>
              </a:ext>
            </a:extLst>
          </p:cNvPr>
          <p:cNvGrpSpPr/>
          <p:nvPr/>
        </p:nvGrpSpPr>
        <p:grpSpPr>
          <a:xfrm>
            <a:off x="704237" y="1800225"/>
            <a:ext cx="2881314" cy="3600451"/>
            <a:chOff x="7920040" y="1800223"/>
            <a:chExt cx="2881314" cy="3600451"/>
          </a:xfrm>
        </p:grpSpPr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E8CDB108-E9A8-5D89-9CB0-F11FDC5F24E1}"/>
                </a:ext>
              </a:extLst>
            </p:cNvPr>
            <p:cNvSpPr/>
            <p:nvPr/>
          </p:nvSpPr>
          <p:spPr>
            <a:xfrm>
              <a:off x="7920040" y="1800223"/>
              <a:ext cx="2881314" cy="3600451"/>
            </a:xfrm>
            <a:prstGeom prst="roundRect">
              <a:avLst>
                <a:gd name="adj" fmla="val 9518"/>
              </a:avLst>
            </a:prstGeom>
            <a:solidFill>
              <a:srgbClr val="EB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CD1251-3803-8BB9-45F1-03D008B960AB}"/>
                </a:ext>
              </a:extLst>
            </p:cNvPr>
            <p:cNvSpPr txBox="1"/>
            <p:nvPr/>
          </p:nvSpPr>
          <p:spPr>
            <a:xfrm>
              <a:off x="8290527" y="3041991"/>
              <a:ext cx="164224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ko-KR" sz="1600" b="1" dirty="0">
                  <a:solidFill>
                    <a:srgbClr val="0E9488"/>
                  </a:solidFill>
                  <a:latin typeface="Paperlogy 7 Bold" pitchFamily="2" charset="-127"/>
                  <a:ea typeface="Paperlogy 7 Bold" pitchFamily="2" charset="-127"/>
                </a:rPr>
                <a:t>Usage Scenario</a:t>
              </a:r>
            </a:p>
          </p:txBody>
        </p:sp>
        <p:pic>
          <p:nvPicPr>
            <p:cNvPr id="18" name="그래픽 17" descr="스마트폰 단색으로 채워진">
              <a:extLst>
                <a:ext uri="{FF2B5EF4-FFF2-40B4-BE49-F238E27FC236}">
                  <a16:creationId xmlns:a16="http://schemas.microsoft.com/office/drawing/2014/main" id="{FC8A34C7-0D57-25E9-318D-EB124B59B8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0527" y="2159363"/>
              <a:ext cx="720000" cy="720000"/>
            </a:xfrm>
            <a:prstGeom prst="rect">
              <a:avLst/>
            </a:prstGeom>
          </p:spPr>
        </p:pic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7040324-4996-33A7-9E0A-BB42AA037A0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80400" y="3471776"/>
              <a:ext cx="360000" cy="360000"/>
              <a:chOff x="8193327" y="3542765"/>
              <a:chExt cx="914400" cy="914400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DF9900C6-8510-56BC-BC54-CC1CC4DE0A4F}"/>
                  </a:ext>
                </a:extLst>
              </p:cNvPr>
              <p:cNvSpPr/>
              <p:nvPr/>
            </p:nvSpPr>
            <p:spPr>
              <a:xfrm>
                <a:off x="8193327" y="3542765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FF181CE2-E42B-07C3-7B53-D2443C1C2F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290527" y="3639965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69B63D97-FBFA-D2FA-FBE8-5F54233885E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80400" y="4075863"/>
              <a:ext cx="360000" cy="360000"/>
              <a:chOff x="8934634" y="5652936"/>
              <a:chExt cx="914400" cy="914400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F204B66F-3B3E-E164-495F-C8DB26BC5F62}"/>
                  </a:ext>
                </a:extLst>
              </p:cNvPr>
              <p:cNvSpPr/>
              <p:nvPr/>
            </p:nvSpPr>
            <p:spPr>
              <a:xfrm>
                <a:off x="8934634" y="5652936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A71CD836-A4E1-CE1D-F90E-C833E829DF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/>
            </p:blipFill>
            <p:spPr>
              <a:xfrm>
                <a:off x="9031834" y="575013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3A3438D0-7285-74BE-ABDB-0ECA872498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80400" y="4679950"/>
              <a:ext cx="360000" cy="360000"/>
              <a:chOff x="8443325" y="5687083"/>
              <a:chExt cx="914400" cy="914400"/>
            </a:xfrm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E3024CE1-3CD4-26A2-7C89-314BDC583202}"/>
                  </a:ext>
                </a:extLst>
              </p:cNvPr>
              <p:cNvSpPr/>
              <p:nvPr/>
            </p:nvSpPr>
            <p:spPr>
              <a:xfrm>
                <a:off x="8443325" y="5687083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506707CA-E14C-889C-6B8A-57DB9923E5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>
              <a:xfrm>
                <a:off x="8540525" y="5784283"/>
                <a:ext cx="720000" cy="720000"/>
              </a:xfrm>
              <a:prstGeom prst="rect">
                <a:avLst/>
              </a:prstGeom>
            </p:spPr>
          </p:pic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D4B010-CF69-3536-EC4B-E14BFBE15ACB}"/>
                </a:ext>
              </a:extLst>
            </p:cNvPr>
            <p:cNvSpPr txBox="1"/>
            <p:nvPr/>
          </p:nvSpPr>
          <p:spPr>
            <a:xfrm>
              <a:off x="8819787" y="3559443"/>
              <a:ext cx="108109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ko-KR" sz="1200" dirty="0">
                  <a:latin typeface="Paperlogy 4 Regular" pitchFamily="2" charset="-127"/>
                  <a:ea typeface="Paperlogy 4 Regular" pitchFamily="2" charset="-127"/>
                </a:rPr>
                <a:t>Standing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09BDA1D-BCAF-6799-A604-91B9551AE741}"/>
                </a:ext>
              </a:extLst>
            </p:cNvPr>
            <p:cNvSpPr txBox="1"/>
            <p:nvPr/>
          </p:nvSpPr>
          <p:spPr>
            <a:xfrm>
              <a:off x="8819787" y="4163530"/>
              <a:ext cx="108109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ko-KR" sz="1200" dirty="0">
                  <a:latin typeface="Paperlogy 4 Regular" pitchFamily="2" charset="-127"/>
                  <a:ea typeface="Paperlogy 4 Regular" pitchFamily="2" charset="-127"/>
                </a:rPr>
                <a:t>Sitting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03F1ED4-91A6-5E19-7733-721249B6DCA2}"/>
                </a:ext>
              </a:extLst>
            </p:cNvPr>
            <p:cNvSpPr txBox="1"/>
            <p:nvPr/>
          </p:nvSpPr>
          <p:spPr>
            <a:xfrm>
              <a:off x="8819787" y="4767617"/>
              <a:ext cx="108109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ko-KR" sz="1200" dirty="0">
                  <a:latin typeface="Paperlogy 4 Regular" pitchFamily="2" charset="-127"/>
                  <a:ea typeface="Paperlogy 4 Regular" pitchFamily="2" charset="-127"/>
                </a:rPr>
                <a:t>Commuting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135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01749-D859-862C-9E98-2F9CC736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1B1630-1458-5555-A677-FFFC8A88B0DD}"/>
              </a:ext>
            </a:extLst>
          </p:cNvPr>
          <p:cNvSpPr txBox="1"/>
          <p:nvPr/>
        </p:nvSpPr>
        <p:spPr>
          <a:xfrm>
            <a:off x="719138" y="534472"/>
            <a:ext cx="216058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Key Idea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FEC841-71CB-D956-7AFB-500F2D76BD5C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Robust Posture Classification with Temporal Filtering</a:t>
            </a:r>
            <a:endParaRPr kumimoji="1" lang="ko-KR" altLang="en-US" sz="2400" b="1" dirty="0">
              <a:solidFill>
                <a:srgbClr val="0E9488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20EB48E5-8DD0-3856-7FBA-27A583437B36}"/>
              </a:ext>
            </a:extLst>
          </p:cNvPr>
          <p:cNvSpPr/>
          <p:nvPr/>
        </p:nvSpPr>
        <p:spPr>
          <a:xfrm>
            <a:off x="2881313" y="3615666"/>
            <a:ext cx="2159000" cy="2145372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Input: 100 × 6 IMU window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(2 sec @ 50 Hz)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Lightweight 1D-CNN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Classes:</a:t>
            </a:r>
            <a:r>
              <a:rPr kumimoji="1" lang="ko-KR" altLang="en-US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Upright,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Mild</a:t>
            </a:r>
            <a:r>
              <a:rPr kumimoji="1" lang="ko-KR" altLang="en-US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Forward Flexion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Severe Looking-Down</a:t>
            </a:r>
            <a:endParaRPr kumimoji="1" lang="ko-KR" altLang="en-US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오른쪽 화살표[R] 6">
            <a:extLst>
              <a:ext uri="{FF2B5EF4-FFF2-40B4-BE49-F238E27FC236}">
                <a16:creationId xmlns:a16="http://schemas.microsoft.com/office/drawing/2014/main" id="{18C76362-DC42-F486-4B15-53405D981376}"/>
              </a:ext>
            </a:extLst>
          </p:cNvPr>
          <p:cNvSpPr/>
          <p:nvPr/>
        </p:nvSpPr>
        <p:spPr>
          <a:xfrm>
            <a:off x="2171687" y="2283892"/>
            <a:ext cx="720725" cy="779207"/>
          </a:xfrm>
          <a:prstGeom prst="rightArrow">
            <a:avLst/>
          </a:prstGeom>
          <a:gradFill flip="none" rotWithShape="1">
            <a:gsLst>
              <a:gs pos="0">
                <a:srgbClr val="5EC5C0">
                  <a:alpha val="30000"/>
                </a:srgbClr>
              </a:gs>
              <a:gs pos="49000">
                <a:srgbClr val="309994">
                  <a:alpha val="50000"/>
                </a:srgbClr>
              </a:gs>
              <a:gs pos="100000">
                <a:srgbClr val="016B66">
                  <a:alpha val="8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3870F1C-B77D-EBC1-C5C5-19C11E85DC8F}"/>
              </a:ext>
            </a:extLst>
          </p:cNvPr>
          <p:cNvSpPr/>
          <p:nvPr/>
        </p:nvSpPr>
        <p:spPr>
          <a:xfrm>
            <a:off x="5759450" y="3615666"/>
            <a:ext cx="2159000" cy="2145372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Smooth prediction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probabilities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3-result moving average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Reduces transient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misclassification</a:t>
            </a:r>
          </a:p>
        </p:txBody>
      </p:sp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09533B4D-97AF-F376-EA58-CC054BEEE6C0}"/>
              </a:ext>
            </a:extLst>
          </p:cNvPr>
          <p:cNvSpPr/>
          <p:nvPr/>
        </p:nvSpPr>
        <p:spPr>
          <a:xfrm>
            <a:off x="5052126" y="2283892"/>
            <a:ext cx="720725" cy="779207"/>
          </a:xfrm>
          <a:prstGeom prst="rightArrow">
            <a:avLst/>
          </a:prstGeom>
          <a:gradFill flip="none" rotWithShape="1">
            <a:gsLst>
              <a:gs pos="0">
                <a:srgbClr val="5EC5C0">
                  <a:alpha val="30000"/>
                </a:srgbClr>
              </a:gs>
              <a:gs pos="49000">
                <a:srgbClr val="309994">
                  <a:alpha val="50000"/>
                </a:srgbClr>
              </a:gs>
              <a:gs pos="100000">
                <a:srgbClr val="016B66">
                  <a:alpha val="8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A536722-7BE1-A498-B474-9C45DEF64D95}"/>
              </a:ext>
            </a:extLst>
          </p:cNvPr>
          <p:cNvSpPr/>
          <p:nvPr/>
        </p:nvSpPr>
        <p:spPr>
          <a:xfrm>
            <a:off x="8640763" y="3615666"/>
            <a:ext cx="2159000" cy="2145372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8-sec sustained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poor-posture check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Vibration +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notification alert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Avoids immediate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false alarms</a:t>
            </a:r>
            <a:endParaRPr kumimoji="1" lang="ko-KR" altLang="en-US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4F22CF2B-8125-443B-A0F6-E826056BC73B}"/>
              </a:ext>
            </a:extLst>
          </p:cNvPr>
          <p:cNvSpPr/>
          <p:nvPr/>
        </p:nvSpPr>
        <p:spPr>
          <a:xfrm>
            <a:off x="7926862" y="2283892"/>
            <a:ext cx="720725" cy="779207"/>
          </a:xfrm>
          <a:prstGeom prst="rightArrow">
            <a:avLst/>
          </a:prstGeom>
          <a:gradFill flip="none" rotWithShape="1">
            <a:gsLst>
              <a:gs pos="0">
                <a:srgbClr val="5EC5C0">
                  <a:alpha val="30000"/>
                </a:srgbClr>
              </a:gs>
              <a:gs pos="49000">
                <a:srgbClr val="309994">
                  <a:alpha val="50000"/>
                </a:srgbClr>
              </a:gs>
              <a:gs pos="100000">
                <a:srgbClr val="016B66">
                  <a:alpha val="8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F0C44DE1-3D49-C73C-BF33-B09E0984A0AD}"/>
              </a:ext>
            </a:extLst>
          </p:cNvPr>
          <p:cNvGrpSpPr/>
          <p:nvPr/>
        </p:nvGrpSpPr>
        <p:grpSpPr>
          <a:xfrm>
            <a:off x="3076822" y="2008473"/>
            <a:ext cx="1767983" cy="1231614"/>
            <a:chOff x="2653259" y="3164824"/>
            <a:chExt cx="1767983" cy="1231614"/>
          </a:xfrm>
        </p:grpSpPr>
        <p:sp>
          <p:nvSpPr>
            <p:cNvPr id="41" name="정육면체 40">
              <a:extLst>
                <a:ext uri="{FF2B5EF4-FFF2-40B4-BE49-F238E27FC236}">
                  <a16:creationId xmlns:a16="http://schemas.microsoft.com/office/drawing/2014/main" id="{5410D308-98FB-71B2-BA18-C5FDAC5CF7C6}"/>
                </a:ext>
              </a:extLst>
            </p:cNvPr>
            <p:cNvSpPr/>
            <p:nvPr/>
          </p:nvSpPr>
          <p:spPr>
            <a:xfrm>
              <a:off x="2653259" y="3164824"/>
              <a:ext cx="299803" cy="1231614"/>
            </a:xfrm>
            <a:prstGeom prst="cube">
              <a:avLst>
                <a:gd name="adj" fmla="val 77954"/>
              </a:avLst>
            </a:prstGeom>
            <a:noFill/>
            <a:ln w="25400">
              <a:solidFill>
                <a:srgbClr val="0E9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2" name="정육면체 41">
              <a:extLst>
                <a:ext uri="{FF2B5EF4-FFF2-40B4-BE49-F238E27FC236}">
                  <a16:creationId xmlns:a16="http://schemas.microsoft.com/office/drawing/2014/main" id="{523109FA-6F98-43FC-1F04-4A13B560F9ED}"/>
                </a:ext>
              </a:extLst>
            </p:cNvPr>
            <p:cNvSpPr/>
            <p:nvPr/>
          </p:nvSpPr>
          <p:spPr>
            <a:xfrm>
              <a:off x="3046621" y="3264962"/>
              <a:ext cx="299803" cy="1031338"/>
            </a:xfrm>
            <a:prstGeom prst="cube">
              <a:avLst>
                <a:gd name="adj" fmla="val 77954"/>
              </a:avLst>
            </a:prstGeom>
            <a:noFill/>
            <a:ln w="25400">
              <a:solidFill>
                <a:srgbClr val="0E9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3" name="꺾인 연결선[E] 52">
              <a:extLst>
                <a:ext uri="{FF2B5EF4-FFF2-40B4-BE49-F238E27FC236}">
                  <a16:creationId xmlns:a16="http://schemas.microsoft.com/office/drawing/2014/main" id="{DBB0A0D2-37E1-0681-B852-82A210B6EE1A}"/>
                </a:ext>
              </a:extLst>
            </p:cNvPr>
            <p:cNvCxnSpPr>
              <a:stCxn id="44" idx="2"/>
              <a:endCxn id="45" idx="2"/>
            </p:cNvCxnSpPr>
            <p:nvPr/>
          </p:nvCxnSpPr>
          <p:spPr>
            <a:xfrm rot="10800000" flipV="1">
              <a:off x="4261036" y="3435857"/>
              <a:ext cx="12700" cy="689547"/>
            </a:xfrm>
            <a:prstGeom prst="bentConnector3">
              <a:avLst>
                <a:gd name="adj1" fmla="val 1800000"/>
              </a:avLst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[R] 54">
              <a:extLst>
                <a:ext uri="{FF2B5EF4-FFF2-40B4-BE49-F238E27FC236}">
                  <a16:creationId xmlns:a16="http://schemas.microsoft.com/office/drawing/2014/main" id="{0A007038-5CF9-30C9-32C6-B37872529478}"/>
                </a:ext>
              </a:extLst>
            </p:cNvPr>
            <p:cNvCxnSpPr>
              <a:stCxn id="46" idx="2"/>
            </p:cNvCxnSpPr>
            <p:nvPr/>
          </p:nvCxnSpPr>
          <p:spPr>
            <a:xfrm flipH="1">
              <a:off x="3739786" y="3780632"/>
              <a:ext cx="521250" cy="5072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정육면체 42">
              <a:extLst>
                <a:ext uri="{FF2B5EF4-FFF2-40B4-BE49-F238E27FC236}">
                  <a16:creationId xmlns:a16="http://schemas.microsoft.com/office/drawing/2014/main" id="{5F55034F-1D0C-6DC3-D6CB-216576B78833}"/>
                </a:ext>
              </a:extLst>
            </p:cNvPr>
            <p:cNvSpPr/>
            <p:nvPr/>
          </p:nvSpPr>
          <p:spPr>
            <a:xfrm>
              <a:off x="3439983" y="3354622"/>
              <a:ext cx="299803" cy="852018"/>
            </a:xfrm>
            <a:prstGeom prst="cube">
              <a:avLst>
                <a:gd name="adj" fmla="val 77954"/>
              </a:avLst>
            </a:prstGeom>
            <a:noFill/>
            <a:ln w="25400">
              <a:solidFill>
                <a:srgbClr val="0E9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514A06F-8885-B262-C048-97A5A6546419}"/>
                </a:ext>
              </a:extLst>
            </p:cNvPr>
            <p:cNvSpPr/>
            <p:nvPr/>
          </p:nvSpPr>
          <p:spPr>
            <a:xfrm>
              <a:off x="4261036" y="3355755"/>
              <a:ext cx="160206" cy="160206"/>
            </a:xfrm>
            <a:prstGeom prst="ellipse">
              <a:avLst/>
            </a:prstGeom>
            <a:noFill/>
            <a:ln w="25400">
              <a:solidFill>
                <a:srgbClr val="0E9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645FE10-F5AF-A92A-82AA-488425F7F7F8}"/>
                </a:ext>
              </a:extLst>
            </p:cNvPr>
            <p:cNvSpPr/>
            <p:nvPr/>
          </p:nvSpPr>
          <p:spPr>
            <a:xfrm>
              <a:off x="4261036" y="4045302"/>
              <a:ext cx="160206" cy="160206"/>
            </a:xfrm>
            <a:prstGeom prst="ellipse">
              <a:avLst/>
            </a:prstGeom>
            <a:noFill/>
            <a:ln w="25400">
              <a:solidFill>
                <a:srgbClr val="0E9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2D5DFFE-AA32-E21C-EB4D-75816AE26A4B}"/>
                </a:ext>
              </a:extLst>
            </p:cNvPr>
            <p:cNvSpPr/>
            <p:nvPr/>
          </p:nvSpPr>
          <p:spPr>
            <a:xfrm>
              <a:off x="4261036" y="3700529"/>
              <a:ext cx="160206" cy="160206"/>
            </a:xfrm>
            <a:prstGeom prst="ellipse">
              <a:avLst/>
            </a:prstGeom>
            <a:noFill/>
            <a:ln w="25400">
              <a:solidFill>
                <a:srgbClr val="0E9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778C4B66-4C18-AEC8-8529-65AC7293B911}"/>
              </a:ext>
            </a:extLst>
          </p:cNvPr>
          <p:cNvSpPr/>
          <p:nvPr/>
        </p:nvSpPr>
        <p:spPr>
          <a:xfrm>
            <a:off x="720725" y="3615666"/>
            <a:ext cx="1439863" cy="2145372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6-axis IMU input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50 Hz sampling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Ring-buffered sensor stream</a:t>
            </a:r>
            <a:endParaRPr kumimoji="1" lang="ko-KR" altLang="en-US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AB8EDA-B17E-9CB1-62F1-96E17D22E8CA}"/>
              </a:ext>
            </a:extLst>
          </p:cNvPr>
          <p:cNvSpPr txBox="1"/>
          <p:nvPr/>
        </p:nvSpPr>
        <p:spPr>
          <a:xfrm>
            <a:off x="731824" y="1357974"/>
            <a:ext cx="14398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Paperlogy 7 Bold" pitchFamily="2" charset="-127"/>
                <a:ea typeface="Paperlogy 7 Bold" pitchFamily="2" charset="-127"/>
              </a:rPr>
              <a:t>Sense</a:t>
            </a:r>
            <a:endParaRPr kumimoji="1" lang="ko-KR" altLang="en-US" sz="14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571031-E1AE-2AED-D868-2623C3A75588}"/>
              </a:ext>
            </a:extLst>
          </p:cNvPr>
          <p:cNvSpPr txBox="1"/>
          <p:nvPr/>
        </p:nvSpPr>
        <p:spPr>
          <a:xfrm>
            <a:off x="2880518" y="1357974"/>
            <a:ext cx="2171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Paperlogy 7 Bold" pitchFamily="2" charset="-127"/>
                <a:ea typeface="Paperlogy 7 Bold" pitchFamily="2" charset="-127"/>
              </a:rPr>
              <a:t>Train</a:t>
            </a:r>
            <a:endParaRPr kumimoji="1" lang="ko-KR" altLang="en-US" sz="14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1D3984F-C12E-4A91-317D-E04402202802}"/>
              </a:ext>
            </a:extLst>
          </p:cNvPr>
          <p:cNvSpPr txBox="1"/>
          <p:nvPr/>
        </p:nvSpPr>
        <p:spPr>
          <a:xfrm>
            <a:off x="5759450" y="1357974"/>
            <a:ext cx="2171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Paperlogy 7 Bold" pitchFamily="2" charset="-127"/>
                <a:ea typeface="Paperlogy 7 Bold" pitchFamily="2" charset="-127"/>
              </a:rPr>
              <a:t>Infer</a:t>
            </a:r>
            <a:endParaRPr kumimoji="1" lang="ko-KR" altLang="en-US" sz="14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04EDC1F-3008-6242-DC9D-488FE9407AF0}"/>
              </a:ext>
            </a:extLst>
          </p:cNvPr>
          <p:cNvSpPr txBox="1"/>
          <p:nvPr/>
        </p:nvSpPr>
        <p:spPr>
          <a:xfrm>
            <a:off x="8647587" y="1357974"/>
            <a:ext cx="2171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Paperlogy 7 Bold" pitchFamily="2" charset="-127"/>
                <a:ea typeface="Paperlogy 7 Bold" pitchFamily="2" charset="-127"/>
              </a:rPr>
              <a:t>Feedback</a:t>
            </a:r>
            <a:endParaRPr kumimoji="1" lang="ko-KR" altLang="en-US" sz="1400" b="1" dirty="0">
              <a:latin typeface="Paperlogy 7 Bold" pitchFamily="2" charset="-127"/>
              <a:ea typeface="Paperlogy 7 Bold" pitchFamily="2" charset="-127"/>
            </a:endParaRPr>
          </a:p>
        </p:txBody>
      </p: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CFE78DFF-10BB-686B-55FE-9231371B7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358439"/>
              </p:ext>
            </p:extLst>
          </p:nvPr>
        </p:nvGraphicFramePr>
        <p:xfrm>
          <a:off x="5916303" y="1982134"/>
          <a:ext cx="18342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6840">
                  <a:extLst>
                    <a:ext uri="{9D8B030D-6E8A-4147-A177-3AD203B41FA5}">
                      <a16:colId xmlns:a16="http://schemas.microsoft.com/office/drawing/2014/main" val="2434151364"/>
                    </a:ext>
                  </a:extLst>
                </a:gridCol>
                <a:gridCol w="366840">
                  <a:extLst>
                    <a:ext uri="{9D8B030D-6E8A-4147-A177-3AD203B41FA5}">
                      <a16:colId xmlns:a16="http://schemas.microsoft.com/office/drawing/2014/main" val="1093913137"/>
                    </a:ext>
                  </a:extLst>
                </a:gridCol>
                <a:gridCol w="366840">
                  <a:extLst>
                    <a:ext uri="{9D8B030D-6E8A-4147-A177-3AD203B41FA5}">
                      <a16:colId xmlns:a16="http://schemas.microsoft.com/office/drawing/2014/main" val="1002816179"/>
                    </a:ext>
                  </a:extLst>
                </a:gridCol>
                <a:gridCol w="366840">
                  <a:extLst>
                    <a:ext uri="{9D8B030D-6E8A-4147-A177-3AD203B41FA5}">
                      <a16:colId xmlns:a16="http://schemas.microsoft.com/office/drawing/2014/main" val="1551554474"/>
                    </a:ext>
                  </a:extLst>
                </a:gridCol>
                <a:gridCol w="366840">
                  <a:extLst>
                    <a:ext uri="{9D8B030D-6E8A-4147-A177-3AD203B41FA5}">
                      <a16:colId xmlns:a16="http://schemas.microsoft.com/office/drawing/2014/main" val="2859526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t1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t2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t3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avg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rgbClr val="5EC5C0">
                        <a:alpha val="3223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32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000" b="0" i="0" u="none" strike="noStrike" kern="1200" dirty="0">
                          <a:solidFill>
                            <a:srgbClr val="0E9488"/>
                          </a:solidFill>
                          <a:effectLst/>
                          <a:latin typeface="Paperlogy 4 Regular" pitchFamily="2" charset="-127"/>
                          <a:ea typeface="Paperlogy 4 Regular" pitchFamily="2" charset="-127"/>
                          <a:cs typeface="+mn-cs"/>
                        </a:rPr>
                        <a:t>●</a:t>
                      </a:r>
                      <a:endParaRPr lang="ko-KR" altLang="en-US" sz="800" dirty="0">
                        <a:solidFill>
                          <a:srgbClr val="0E9488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0E9488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0.60</a:t>
                      </a:r>
                      <a:endParaRPr lang="ko-KR" altLang="en-US" sz="700" dirty="0">
                        <a:solidFill>
                          <a:srgbClr val="0E9488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0E9488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0.40</a:t>
                      </a:r>
                      <a:endParaRPr lang="ko-KR" altLang="en-US" sz="700" dirty="0">
                        <a:solidFill>
                          <a:srgbClr val="0E9488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0E9488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0.55</a:t>
                      </a:r>
                      <a:endParaRPr lang="ko-KR" altLang="en-US" sz="700" dirty="0">
                        <a:solidFill>
                          <a:srgbClr val="0E9488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dirty="0">
                          <a:solidFill>
                            <a:srgbClr val="0E9488"/>
                          </a:solidFill>
                          <a:latin typeface="Paperlogy 8 ExtraBold" pitchFamily="2" charset="-127"/>
                          <a:ea typeface="Paperlogy 8 ExtraBold" pitchFamily="2" charset="-127"/>
                        </a:rPr>
                        <a:t>0.52</a:t>
                      </a:r>
                      <a:endParaRPr lang="ko-KR" altLang="en-US" sz="900" b="1" i="0" dirty="0">
                        <a:solidFill>
                          <a:srgbClr val="0E9488"/>
                        </a:solidFill>
                        <a:latin typeface="Paperlogy 8 ExtraBold" pitchFamily="2" charset="-127"/>
                        <a:ea typeface="Paperlogy 8 ExtraBold" pitchFamily="2" charset="-127"/>
                      </a:endParaRPr>
                    </a:p>
                  </a:txBody>
                  <a:tcPr marL="0" marR="0" marT="0" marB="0" anchor="ctr">
                    <a:solidFill>
                      <a:srgbClr val="5EC5C0">
                        <a:alpha val="3223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510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000" b="0" i="0" u="none" strike="noStrike" kern="1200" dirty="0">
                          <a:solidFill>
                            <a:srgbClr val="EF871D"/>
                          </a:solidFill>
                          <a:effectLst/>
                          <a:latin typeface="Paperlogy 4 Regular" pitchFamily="2" charset="-127"/>
                          <a:ea typeface="Paperlogy 4 Regular" pitchFamily="2" charset="-127"/>
                          <a:cs typeface="+mn-cs"/>
                        </a:rPr>
                        <a:t>●</a:t>
                      </a:r>
                      <a:endParaRPr lang="ko-KR" altLang="en-US" sz="1000" dirty="0">
                        <a:solidFill>
                          <a:srgbClr val="EF871D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EF871D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0.30</a:t>
                      </a:r>
                      <a:endParaRPr lang="ko-KR" altLang="en-US" sz="700" dirty="0">
                        <a:solidFill>
                          <a:srgbClr val="EF871D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EF871D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0.50</a:t>
                      </a:r>
                      <a:endParaRPr lang="ko-KR" altLang="en-US" sz="700" dirty="0">
                        <a:solidFill>
                          <a:srgbClr val="EF871D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EF871D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0.10</a:t>
                      </a:r>
                      <a:endParaRPr lang="ko-KR" altLang="en-US" sz="700" dirty="0">
                        <a:solidFill>
                          <a:srgbClr val="EF871D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EF871D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0.38</a:t>
                      </a:r>
                      <a:endParaRPr lang="ko-KR" altLang="en-US" sz="700" dirty="0">
                        <a:solidFill>
                          <a:srgbClr val="EF871D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rgbClr val="5EC5C0">
                        <a:alpha val="3223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430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u="none" strike="noStrike" kern="1200" dirty="0">
                          <a:solidFill>
                            <a:srgbClr val="FE6C6B"/>
                          </a:solidFill>
                          <a:effectLst/>
                          <a:latin typeface="Paperlogy 4 Regular" pitchFamily="2" charset="-127"/>
                          <a:ea typeface="Paperlogy 4 Regular" pitchFamily="2" charset="-127"/>
                          <a:cs typeface="+mn-cs"/>
                        </a:rPr>
                        <a:t>●</a:t>
                      </a:r>
                      <a:endParaRPr lang="ko-KR" altLang="en-US" sz="1000" dirty="0">
                        <a:solidFill>
                          <a:srgbClr val="FE6C6B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FE6C6B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0.10</a:t>
                      </a:r>
                      <a:endParaRPr lang="ko-KR" altLang="en-US" sz="700" dirty="0">
                        <a:solidFill>
                          <a:srgbClr val="FE6C6B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FE6C6B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0.10</a:t>
                      </a:r>
                      <a:endParaRPr lang="ko-KR" altLang="en-US" sz="700" dirty="0">
                        <a:solidFill>
                          <a:srgbClr val="FE6C6B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FE6C6B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0.10</a:t>
                      </a:r>
                      <a:endParaRPr lang="ko-KR" altLang="en-US" sz="700" dirty="0">
                        <a:solidFill>
                          <a:srgbClr val="FE6C6B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FE6C6B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0.10</a:t>
                      </a:r>
                      <a:endParaRPr lang="ko-KR" altLang="en-US" sz="700" dirty="0">
                        <a:solidFill>
                          <a:srgbClr val="FE6C6B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rgbClr val="5EC5C0">
                        <a:alpha val="3223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21368"/>
                  </a:ext>
                </a:extLst>
              </a:tr>
            </a:tbl>
          </a:graphicData>
        </a:graphic>
      </p:graphicFrame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F46A5A43-E270-1E7E-AB5F-1EF823F682B8}"/>
              </a:ext>
            </a:extLst>
          </p:cNvPr>
          <p:cNvGrpSpPr/>
          <p:nvPr/>
        </p:nvGrpSpPr>
        <p:grpSpPr>
          <a:xfrm>
            <a:off x="9503457" y="2083736"/>
            <a:ext cx="1195559" cy="1079501"/>
            <a:chOff x="9135612" y="2083736"/>
            <a:chExt cx="1195559" cy="1079501"/>
          </a:xfrm>
        </p:grpSpPr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8E433180-3623-B611-F9B6-1CD054C3087F}"/>
                </a:ext>
              </a:extLst>
            </p:cNvPr>
            <p:cNvGrpSpPr/>
            <p:nvPr/>
          </p:nvGrpSpPr>
          <p:grpSpPr>
            <a:xfrm>
              <a:off x="9437141" y="2083736"/>
              <a:ext cx="592501" cy="1079501"/>
              <a:chOff x="9437140" y="2083736"/>
              <a:chExt cx="592501" cy="1079501"/>
            </a:xfrm>
          </p:grpSpPr>
          <p:sp>
            <p:nvSpPr>
              <p:cNvPr id="116" name="모서리가 둥근 직사각형 115">
                <a:extLst>
                  <a:ext uri="{FF2B5EF4-FFF2-40B4-BE49-F238E27FC236}">
                    <a16:creationId xmlns:a16="http://schemas.microsoft.com/office/drawing/2014/main" id="{E6C3FC32-DA31-CC9A-570D-39C01EA3E0F0}"/>
                  </a:ext>
                </a:extLst>
              </p:cNvPr>
              <p:cNvSpPr/>
              <p:nvPr/>
            </p:nvSpPr>
            <p:spPr>
              <a:xfrm>
                <a:off x="9437140" y="2083736"/>
                <a:ext cx="592501" cy="1079501"/>
              </a:xfrm>
              <a:prstGeom prst="roundRect">
                <a:avLst/>
              </a:prstGeom>
              <a:noFill/>
              <a:ln w="25400">
                <a:solidFill>
                  <a:srgbClr val="0E94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pic>
            <p:nvPicPr>
              <p:cNvPr id="117" name="그래픽 116" descr="벨소리 단색으로 채워진">
                <a:extLst>
                  <a:ext uri="{FF2B5EF4-FFF2-40B4-BE49-F238E27FC236}">
                    <a16:creationId xmlns:a16="http://schemas.microsoft.com/office/drawing/2014/main" id="{F4571428-496F-CD30-FA2B-1E4FD5ED1A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551980" y="2442076"/>
                <a:ext cx="362821" cy="362821"/>
              </a:xfrm>
              <a:prstGeom prst="rect">
                <a:avLst/>
              </a:prstGeom>
            </p:spPr>
          </p:pic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B2330BA7-D0FA-94E2-A525-E73CAAC87D42}"/>
                </a:ext>
              </a:extLst>
            </p:cNvPr>
            <p:cNvGrpSpPr/>
            <p:nvPr/>
          </p:nvGrpSpPr>
          <p:grpSpPr>
            <a:xfrm rot="8100000">
              <a:off x="10081315" y="2498664"/>
              <a:ext cx="249856" cy="249644"/>
              <a:chOff x="9922509" y="2561815"/>
              <a:chExt cx="451009" cy="450627"/>
            </a:xfrm>
            <a:solidFill>
              <a:srgbClr val="0E9488"/>
            </a:solidFill>
          </p:grpSpPr>
          <p:sp>
            <p:nvSpPr>
              <p:cNvPr id="114" name="자유형 113">
                <a:extLst>
                  <a:ext uri="{FF2B5EF4-FFF2-40B4-BE49-F238E27FC236}">
                    <a16:creationId xmlns:a16="http://schemas.microsoft.com/office/drawing/2014/main" id="{86BBCF0A-E123-879F-8213-D4BFB2CFD128}"/>
                  </a:ext>
                </a:extLst>
              </p:cNvPr>
              <p:cNvSpPr/>
              <p:nvPr/>
            </p:nvSpPr>
            <p:spPr>
              <a:xfrm>
                <a:off x="10071576" y="2710500"/>
                <a:ext cx="301942" cy="301942"/>
              </a:xfrm>
              <a:custGeom>
                <a:avLst/>
                <a:gdLst>
                  <a:gd name="csX0" fmla="*/ 57150 w 301942"/>
                  <a:gd name="csY0" fmla="*/ 301943 h 301942"/>
                  <a:gd name="csX1" fmla="*/ 0 w 301942"/>
                  <a:gd name="csY1" fmla="*/ 301943 h 301942"/>
                  <a:gd name="csX2" fmla="*/ 301943 w 301942"/>
                  <a:gd name="csY2" fmla="*/ 0 h 301942"/>
                  <a:gd name="csX3" fmla="*/ 301943 w 301942"/>
                  <a:gd name="csY3" fmla="*/ 57150 h 301942"/>
                  <a:gd name="csX4" fmla="*/ 57150 w 301942"/>
                  <a:gd name="csY4" fmla="*/ 301943 h 3019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01942" h="301942">
                    <a:moveTo>
                      <a:pt x="57150" y="301943"/>
                    </a:moveTo>
                    <a:lnTo>
                      <a:pt x="0" y="301943"/>
                    </a:lnTo>
                    <a:cubicBezTo>
                      <a:pt x="210" y="135271"/>
                      <a:pt x="135271" y="210"/>
                      <a:pt x="301943" y="0"/>
                    </a:cubicBezTo>
                    <a:lnTo>
                      <a:pt x="301943" y="57150"/>
                    </a:lnTo>
                    <a:cubicBezTo>
                      <a:pt x="166812" y="57307"/>
                      <a:pt x="57307" y="166812"/>
                      <a:pt x="57150" y="3019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5" name="자유형 114">
                <a:extLst>
                  <a:ext uri="{FF2B5EF4-FFF2-40B4-BE49-F238E27FC236}">
                    <a16:creationId xmlns:a16="http://schemas.microsoft.com/office/drawing/2014/main" id="{C571F33F-99A8-0207-871F-94A1DF8398D0}"/>
                  </a:ext>
                </a:extLst>
              </p:cNvPr>
              <p:cNvSpPr/>
              <p:nvPr/>
            </p:nvSpPr>
            <p:spPr>
              <a:xfrm>
                <a:off x="9922509" y="2561815"/>
                <a:ext cx="451008" cy="450627"/>
              </a:xfrm>
              <a:custGeom>
                <a:avLst/>
                <a:gdLst>
                  <a:gd name="csX0" fmla="*/ 57150 w 451008"/>
                  <a:gd name="csY0" fmla="*/ 450628 h 450627"/>
                  <a:gd name="csX1" fmla="*/ 0 w 451008"/>
                  <a:gd name="csY1" fmla="*/ 450628 h 450627"/>
                  <a:gd name="csX2" fmla="*/ 451009 w 451008"/>
                  <a:gd name="csY2" fmla="*/ 0 h 450627"/>
                  <a:gd name="csX3" fmla="*/ 451009 w 451008"/>
                  <a:gd name="csY3" fmla="*/ 57150 h 450627"/>
                  <a:gd name="csX4" fmla="*/ 57150 w 451008"/>
                  <a:gd name="csY4" fmla="*/ 450628 h 450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1008" h="450627">
                    <a:moveTo>
                      <a:pt x="57150" y="450628"/>
                    </a:moveTo>
                    <a:lnTo>
                      <a:pt x="0" y="450628"/>
                    </a:lnTo>
                    <a:cubicBezTo>
                      <a:pt x="472" y="201800"/>
                      <a:pt x="202181" y="262"/>
                      <a:pt x="451009" y="0"/>
                    </a:cubicBezTo>
                    <a:lnTo>
                      <a:pt x="451009" y="57150"/>
                    </a:lnTo>
                    <a:cubicBezTo>
                      <a:pt x="233743" y="57412"/>
                      <a:pt x="57622" y="233363"/>
                      <a:pt x="57150" y="45062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A4948CE0-61C1-1769-F204-D3FE5C706678}"/>
                </a:ext>
              </a:extLst>
            </p:cNvPr>
            <p:cNvGrpSpPr/>
            <p:nvPr/>
          </p:nvGrpSpPr>
          <p:grpSpPr>
            <a:xfrm rot="18900000">
              <a:off x="9135612" y="2498664"/>
              <a:ext cx="249856" cy="249644"/>
              <a:chOff x="9922509" y="2561815"/>
              <a:chExt cx="451009" cy="450627"/>
            </a:xfrm>
            <a:solidFill>
              <a:srgbClr val="0E9488"/>
            </a:solidFill>
          </p:grpSpPr>
          <p:sp>
            <p:nvSpPr>
              <p:cNvPr id="112" name="자유형 111">
                <a:extLst>
                  <a:ext uri="{FF2B5EF4-FFF2-40B4-BE49-F238E27FC236}">
                    <a16:creationId xmlns:a16="http://schemas.microsoft.com/office/drawing/2014/main" id="{88EC24F4-713E-1207-8165-345E25B05FDD}"/>
                  </a:ext>
                </a:extLst>
              </p:cNvPr>
              <p:cNvSpPr/>
              <p:nvPr/>
            </p:nvSpPr>
            <p:spPr>
              <a:xfrm>
                <a:off x="10071576" y="2710500"/>
                <a:ext cx="301942" cy="301942"/>
              </a:xfrm>
              <a:custGeom>
                <a:avLst/>
                <a:gdLst>
                  <a:gd name="csX0" fmla="*/ 57150 w 301942"/>
                  <a:gd name="csY0" fmla="*/ 301943 h 301942"/>
                  <a:gd name="csX1" fmla="*/ 0 w 301942"/>
                  <a:gd name="csY1" fmla="*/ 301943 h 301942"/>
                  <a:gd name="csX2" fmla="*/ 301943 w 301942"/>
                  <a:gd name="csY2" fmla="*/ 0 h 301942"/>
                  <a:gd name="csX3" fmla="*/ 301943 w 301942"/>
                  <a:gd name="csY3" fmla="*/ 57150 h 301942"/>
                  <a:gd name="csX4" fmla="*/ 57150 w 301942"/>
                  <a:gd name="csY4" fmla="*/ 301943 h 3019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01942" h="301942">
                    <a:moveTo>
                      <a:pt x="57150" y="301943"/>
                    </a:moveTo>
                    <a:lnTo>
                      <a:pt x="0" y="301943"/>
                    </a:lnTo>
                    <a:cubicBezTo>
                      <a:pt x="210" y="135271"/>
                      <a:pt x="135271" y="210"/>
                      <a:pt x="301943" y="0"/>
                    </a:cubicBezTo>
                    <a:lnTo>
                      <a:pt x="301943" y="57150"/>
                    </a:lnTo>
                    <a:cubicBezTo>
                      <a:pt x="166812" y="57307"/>
                      <a:pt x="57307" y="166812"/>
                      <a:pt x="57150" y="3019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3" name="자유형 112">
                <a:extLst>
                  <a:ext uri="{FF2B5EF4-FFF2-40B4-BE49-F238E27FC236}">
                    <a16:creationId xmlns:a16="http://schemas.microsoft.com/office/drawing/2014/main" id="{7DB14F1C-DEF4-4926-850E-5A7181910C80}"/>
                  </a:ext>
                </a:extLst>
              </p:cNvPr>
              <p:cNvSpPr/>
              <p:nvPr/>
            </p:nvSpPr>
            <p:spPr>
              <a:xfrm>
                <a:off x="9922509" y="2561815"/>
                <a:ext cx="451008" cy="450627"/>
              </a:xfrm>
              <a:custGeom>
                <a:avLst/>
                <a:gdLst>
                  <a:gd name="csX0" fmla="*/ 57150 w 451008"/>
                  <a:gd name="csY0" fmla="*/ 450628 h 450627"/>
                  <a:gd name="csX1" fmla="*/ 0 w 451008"/>
                  <a:gd name="csY1" fmla="*/ 450628 h 450627"/>
                  <a:gd name="csX2" fmla="*/ 451009 w 451008"/>
                  <a:gd name="csY2" fmla="*/ 0 h 450627"/>
                  <a:gd name="csX3" fmla="*/ 451009 w 451008"/>
                  <a:gd name="csY3" fmla="*/ 57150 h 450627"/>
                  <a:gd name="csX4" fmla="*/ 57150 w 451008"/>
                  <a:gd name="csY4" fmla="*/ 450628 h 450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1008" h="450627">
                    <a:moveTo>
                      <a:pt x="57150" y="450628"/>
                    </a:moveTo>
                    <a:lnTo>
                      <a:pt x="0" y="450628"/>
                    </a:lnTo>
                    <a:cubicBezTo>
                      <a:pt x="472" y="201800"/>
                      <a:pt x="202181" y="262"/>
                      <a:pt x="451009" y="0"/>
                    </a:cubicBezTo>
                    <a:lnTo>
                      <a:pt x="451009" y="57150"/>
                    </a:lnTo>
                    <a:cubicBezTo>
                      <a:pt x="233743" y="57412"/>
                      <a:pt x="57622" y="233363"/>
                      <a:pt x="57150" y="45062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pic>
        <p:nvPicPr>
          <p:cNvPr id="121" name="그래픽 120" descr="스톱워치 33% 윤곽선">
            <a:extLst>
              <a:ext uri="{FF2B5EF4-FFF2-40B4-BE49-F238E27FC236}">
                <a16:creationId xmlns:a16="http://schemas.microsoft.com/office/drawing/2014/main" id="{1DC39CC6-F4E0-C923-F1C0-C738DAC5FE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25716" y="2230322"/>
            <a:ext cx="786328" cy="786328"/>
          </a:xfrm>
          <a:prstGeom prst="rect">
            <a:avLst/>
          </a:prstGeom>
        </p:spPr>
      </p:pic>
      <p:sp>
        <p:nvSpPr>
          <p:cNvPr id="122" name="모서리가 둥근 직사각형 121">
            <a:extLst>
              <a:ext uri="{FF2B5EF4-FFF2-40B4-BE49-F238E27FC236}">
                <a16:creationId xmlns:a16="http://schemas.microsoft.com/office/drawing/2014/main" id="{6EE52BE9-A5FE-1E5E-A6A2-7CCBD1EC9D6F}"/>
              </a:ext>
            </a:extLst>
          </p:cNvPr>
          <p:cNvSpPr/>
          <p:nvPr/>
        </p:nvSpPr>
        <p:spPr>
          <a:xfrm>
            <a:off x="1143612" y="2083736"/>
            <a:ext cx="592501" cy="1079501"/>
          </a:xfrm>
          <a:prstGeom prst="roundRect">
            <a:avLst/>
          </a:prstGeom>
          <a:noFill/>
          <a:ln w="25400">
            <a:solidFill>
              <a:srgbClr val="0E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5EB1EB37-1BB8-E6EC-AD78-EFA37F8CD861}"/>
              </a:ext>
            </a:extLst>
          </p:cNvPr>
          <p:cNvGrpSpPr/>
          <p:nvPr/>
        </p:nvGrpSpPr>
        <p:grpSpPr>
          <a:xfrm>
            <a:off x="1190354" y="2381531"/>
            <a:ext cx="499016" cy="483910"/>
            <a:chOff x="556890" y="2160588"/>
            <a:chExt cx="522610" cy="506790"/>
          </a:xfrm>
        </p:grpSpPr>
        <p:cxnSp>
          <p:nvCxnSpPr>
            <p:cNvPr id="130" name="직선 화살표 연결선 129">
              <a:extLst>
                <a:ext uri="{FF2B5EF4-FFF2-40B4-BE49-F238E27FC236}">
                  <a16:creationId xmlns:a16="http://schemas.microsoft.com/office/drawing/2014/main" id="{4B1FDE74-9372-A8A3-4CAB-89452181372A}"/>
                </a:ext>
              </a:extLst>
            </p:cNvPr>
            <p:cNvCxnSpPr/>
            <p:nvPr/>
          </p:nvCxnSpPr>
          <p:spPr>
            <a:xfrm flipV="1">
              <a:off x="719138" y="2160588"/>
              <a:ext cx="0" cy="358775"/>
            </a:xfrm>
            <a:prstGeom prst="straightConnector1">
              <a:avLst/>
            </a:prstGeom>
            <a:ln w="25400">
              <a:solidFill>
                <a:srgbClr val="0E948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화살표 연결선 131">
              <a:extLst>
                <a:ext uri="{FF2B5EF4-FFF2-40B4-BE49-F238E27FC236}">
                  <a16:creationId xmlns:a16="http://schemas.microsoft.com/office/drawing/2014/main" id="{D1C67F5C-5001-23C6-B7D2-814832AD910F}"/>
                </a:ext>
              </a:extLst>
            </p:cNvPr>
            <p:cNvCxnSpPr/>
            <p:nvPr/>
          </p:nvCxnSpPr>
          <p:spPr>
            <a:xfrm>
              <a:off x="719138" y="2505130"/>
              <a:ext cx="360362" cy="0"/>
            </a:xfrm>
            <a:prstGeom prst="straightConnector1">
              <a:avLst/>
            </a:prstGeom>
            <a:ln w="25400">
              <a:solidFill>
                <a:srgbClr val="0E948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화살표 연결선 133">
              <a:extLst>
                <a:ext uri="{FF2B5EF4-FFF2-40B4-BE49-F238E27FC236}">
                  <a16:creationId xmlns:a16="http://schemas.microsoft.com/office/drawing/2014/main" id="{6E4D1DA9-CE2A-E0CC-0B26-BB72EE65C031}"/>
                </a:ext>
              </a:extLst>
            </p:cNvPr>
            <p:cNvCxnSpPr/>
            <p:nvPr/>
          </p:nvCxnSpPr>
          <p:spPr>
            <a:xfrm flipH="1">
              <a:off x="556890" y="2505130"/>
              <a:ext cx="162248" cy="162248"/>
            </a:xfrm>
            <a:prstGeom prst="straightConnector1">
              <a:avLst/>
            </a:prstGeom>
            <a:ln w="25400">
              <a:solidFill>
                <a:srgbClr val="0E948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0530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2DCF3C-0B19-4A35-A33C-CDC21484C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D30036FF-498B-F91B-4436-63A959DE7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8" y="1439863"/>
            <a:ext cx="2182383" cy="468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48935D-77B9-1229-99FF-5160CCB10ACA}"/>
              </a:ext>
            </a:extLst>
          </p:cNvPr>
          <p:cNvSpPr txBox="1"/>
          <p:nvPr/>
        </p:nvSpPr>
        <p:spPr>
          <a:xfrm>
            <a:off x="719138" y="534472"/>
            <a:ext cx="216058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App Functionality Description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DCCEDE-C24E-B40B-7A25-BC1655350ECD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Posture Correction App – Screen Explanation</a:t>
            </a:r>
            <a:endParaRPr kumimoji="1" lang="ko-KR" altLang="en-US" sz="2400" b="1" dirty="0">
              <a:solidFill>
                <a:srgbClr val="0E9488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8686D2-920C-05FB-9DF2-06F95CEA1894}"/>
              </a:ext>
            </a:extLst>
          </p:cNvPr>
          <p:cNvSpPr/>
          <p:nvPr/>
        </p:nvSpPr>
        <p:spPr>
          <a:xfrm>
            <a:off x="854579" y="1948441"/>
            <a:ext cx="1897168" cy="273466"/>
          </a:xfrm>
          <a:prstGeom prst="rect">
            <a:avLst/>
          </a:prstGeom>
          <a:solidFill>
            <a:srgbClr val="76F8F0">
              <a:alpha val="20000"/>
            </a:srgbClr>
          </a:solidFill>
          <a:ln w="25400">
            <a:solidFill>
              <a:srgbClr val="76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76F8F0"/>
                </a:solidFill>
                <a:latin typeface="Paperlogy 9 Black" pitchFamily="2" charset="-127"/>
                <a:ea typeface="Paperlogy 9 Black" pitchFamily="2" charset="-127"/>
              </a:rPr>
              <a:t>1</a:t>
            </a:r>
            <a:endParaRPr kumimoji="1" lang="ko-KR" altLang="en-US" sz="1000" b="1" dirty="0">
              <a:solidFill>
                <a:srgbClr val="76F8F0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3020F3-29F8-AECF-EF2D-4E6C0B262927}"/>
              </a:ext>
            </a:extLst>
          </p:cNvPr>
          <p:cNvSpPr/>
          <p:nvPr/>
        </p:nvSpPr>
        <p:spPr>
          <a:xfrm>
            <a:off x="854579" y="2457018"/>
            <a:ext cx="1897168" cy="1650033"/>
          </a:xfrm>
          <a:prstGeom prst="rect">
            <a:avLst/>
          </a:prstGeom>
          <a:solidFill>
            <a:srgbClr val="76F8F0">
              <a:alpha val="20000"/>
            </a:srgbClr>
          </a:solidFill>
          <a:ln w="25400">
            <a:solidFill>
              <a:srgbClr val="76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76F8F0"/>
                </a:solidFill>
                <a:latin typeface="Paperlogy 9 Black" pitchFamily="2" charset="-127"/>
                <a:ea typeface="Paperlogy 9 Black" pitchFamily="2" charset="-127"/>
              </a:rPr>
              <a:t>2</a:t>
            </a:r>
            <a:endParaRPr kumimoji="1" lang="ko-KR" altLang="en-US" sz="1000" b="1" dirty="0">
              <a:solidFill>
                <a:srgbClr val="76F8F0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61EB54-BDCD-8B48-4B3D-C2F46048D5F6}"/>
              </a:ext>
            </a:extLst>
          </p:cNvPr>
          <p:cNvSpPr/>
          <p:nvPr/>
        </p:nvSpPr>
        <p:spPr>
          <a:xfrm>
            <a:off x="854579" y="5571858"/>
            <a:ext cx="1897168" cy="325912"/>
          </a:xfrm>
          <a:prstGeom prst="rect">
            <a:avLst/>
          </a:prstGeom>
          <a:solidFill>
            <a:srgbClr val="76F8F0">
              <a:alpha val="20000"/>
            </a:srgbClr>
          </a:solidFill>
          <a:ln w="25400">
            <a:solidFill>
              <a:srgbClr val="76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76F8F0"/>
                </a:solidFill>
                <a:latin typeface="Paperlogy 9 Black" pitchFamily="2" charset="-127"/>
                <a:ea typeface="Paperlogy 9 Black" pitchFamily="2" charset="-127"/>
              </a:rPr>
              <a:t>6</a:t>
            </a:r>
            <a:endParaRPr kumimoji="1" lang="ko-KR" altLang="en-US" sz="1000" b="1" dirty="0">
              <a:solidFill>
                <a:srgbClr val="76F8F0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E06D08-09F4-37AA-B415-4AA0F605DD7A}"/>
              </a:ext>
            </a:extLst>
          </p:cNvPr>
          <p:cNvSpPr/>
          <p:nvPr/>
        </p:nvSpPr>
        <p:spPr>
          <a:xfrm>
            <a:off x="1856695" y="4608511"/>
            <a:ext cx="895052" cy="655697"/>
          </a:xfrm>
          <a:prstGeom prst="rect">
            <a:avLst/>
          </a:prstGeom>
          <a:solidFill>
            <a:srgbClr val="76F8F0">
              <a:alpha val="20000"/>
            </a:srgbClr>
          </a:solidFill>
          <a:ln w="25400">
            <a:solidFill>
              <a:srgbClr val="76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76F8F0"/>
                </a:solidFill>
                <a:latin typeface="Paperlogy 9 Black" pitchFamily="2" charset="-127"/>
                <a:ea typeface="Paperlogy 9 Black" pitchFamily="2" charset="-127"/>
              </a:rPr>
              <a:t>5</a:t>
            </a:r>
            <a:endParaRPr kumimoji="1" lang="ko-KR" altLang="en-US" sz="1000" b="1" dirty="0">
              <a:solidFill>
                <a:srgbClr val="76F8F0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14DD53-EFE9-6064-2E2D-C2C0F5814FEF}"/>
              </a:ext>
            </a:extLst>
          </p:cNvPr>
          <p:cNvSpPr/>
          <p:nvPr/>
        </p:nvSpPr>
        <p:spPr>
          <a:xfrm>
            <a:off x="854579" y="4608511"/>
            <a:ext cx="895052" cy="655697"/>
          </a:xfrm>
          <a:prstGeom prst="rect">
            <a:avLst/>
          </a:prstGeom>
          <a:solidFill>
            <a:srgbClr val="76F8F0">
              <a:alpha val="20000"/>
            </a:srgbClr>
          </a:solidFill>
          <a:ln w="25400">
            <a:solidFill>
              <a:srgbClr val="76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76F8F0"/>
                </a:solidFill>
                <a:latin typeface="Paperlogy 9 Black" pitchFamily="2" charset="-127"/>
                <a:ea typeface="Paperlogy 9 Black" pitchFamily="2" charset="-127"/>
              </a:rPr>
              <a:t>4</a:t>
            </a:r>
            <a:endParaRPr kumimoji="1" lang="ko-KR" altLang="en-US" sz="1000" b="1" dirty="0">
              <a:solidFill>
                <a:srgbClr val="76F8F0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3E1B6F37-901F-EE52-A80E-4604C00441D3}"/>
              </a:ext>
            </a:extLst>
          </p:cNvPr>
          <p:cNvSpPr/>
          <p:nvPr/>
        </p:nvSpPr>
        <p:spPr>
          <a:xfrm>
            <a:off x="3240087" y="1439863"/>
            <a:ext cx="2160587" cy="720725"/>
          </a:xfrm>
          <a:prstGeom prst="roundRect">
            <a:avLst>
              <a:gd name="adj" fmla="val 9518"/>
            </a:avLst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1. Model selection</a:t>
            </a:r>
            <a:endParaRPr kumimoji="1" lang="ko-KR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D4588CB1-4D88-E53B-BAB4-D81AADA159AF}"/>
              </a:ext>
            </a:extLst>
          </p:cNvPr>
          <p:cNvSpPr/>
          <p:nvPr/>
        </p:nvSpPr>
        <p:spPr>
          <a:xfrm>
            <a:off x="5400675" y="1439863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rgbClr val="5EC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rgbClr val="0E9488"/>
                </a:solidFill>
                <a:latin typeface="Paperlogy 4 Regular" pitchFamily="2" charset="-127"/>
                <a:ea typeface="Paperlogy 4 Regular" pitchFamily="2" charset="-127"/>
              </a:rPr>
              <a:t>Before starting monitoring, you can choose between INT8(default) or FP32(fallback)</a:t>
            </a:r>
            <a:endParaRPr kumimoji="1" lang="ko-KR" altLang="en-US" sz="1200" dirty="0">
              <a:solidFill>
                <a:srgbClr val="0E948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FD94326-F3AE-A3CF-1486-7278DB0CBCAE}"/>
              </a:ext>
            </a:extLst>
          </p:cNvPr>
          <p:cNvSpPr/>
          <p:nvPr/>
        </p:nvSpPr>
        <p:spPr>
          <a:xfrm>
            <a:off x="3240087" y="2232025"/>
            <a:ext cx="2160587" cy="720725"/>
          </a:xfrm>
          <a:prstGeom prst="roundRect">
            <a:avLst>
              <a:gd name="adj" fmla="val 9518"/>
            </a:avLst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2. Posture classification</a:t>
            </a:r>
            <a:endParaRPr kumimoji="1" lang="ko-KR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8FCE0227-C496-339C-CF8C-2222B8257462}"/>
              </a:ext>
            </a:extLst>
          </p:cNvPr>
          <p:cNvSpPr/>
          <p:nvPr/>
        </p:nvSpPr>
        <p:spPr>
          <a:xfrm>
            <a:off x="5400675" y="2232025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rgbClr val="5EC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rgbClr val="0E9488"/>
                </a:solidFill>
                <a:latin typeface="Paperlogy 4 Regular" pitchFamily="2" charset="-127"/>
                <a:ea typeface="Paperlogy 4 Regular" pitchFamily="2" charset="-127"/>
              </a:rPr>
              <a:t>Shows prediction for current posture</a:t>
            </a:r>
            <a:br>
              <a:rPr kumimoji="1" lang="en-US" altLang="ko-KR" sz="1200" dirty="0">
                <a:solidFill>
                  <a:srgbClr val="0E9488"/>
                </a:solidFill>
                <a:latin typeface="Paperlogy 4 Regular" pitchFamily="2" charset="-127"/>
                <a:ea typeface="Paperlogy 4 Regular" pitchFamily="2" charset="-127"/>
              </a:rPr>
            </a:br>
            <a:r>
              <a:rPr kumimoji="1" lang="en-US" altLang="ko-KR" sz="1200" dirty="0">
                <a:solidFill>
                  <a:srgbClr val="0E9488"/>
                </a:solidFill>
                <a:latin typeface="Paperlogy 4 Regular" pitchFamily="2" charset="-127"/>
                <a:ea typeface="Paperlogy 4 Regular" pitchFamily="2" charset="-127"/>
              </a:rPr>
              <a:t>(Upright, Mild Forward Flexion, and Severe Looking Down.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rgbClr val="0E9488"/>
                </a:solidFill>
                <a:latin typeface="Paperlogy 4 Regular" pitchFamily="2" charset="-127"/>
                <a:ea typeface="Paperlogy 4 Regular" pitchFamily="2" charset="-127"/>
              </a:rPr>
              <a:t>Shows confidence for each state. </a:t>
            </a:r>
            <a:endParaRPr kumimoji="1" lang="ko-KR" altLang="en-US" sz="1200" dirty="0">
              <a:solidFill>
                <a:srgbClr val="0E948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38254825-DF86-5518-3DDD-DE76CA6D036C}"/>
              </a:ext>
            </a:extLst>
          </p:cNvPr>
          <p:cNvSpPr/>
          <p:nvPr/>
        </p:nvSpPr>
        <p:spPr>
          <a:xfrm>
            <a:off x="3240087" y="3816349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4. Monitoring status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FF6B0443-CD6E-A6C5-3DAE-5158A20E86F8}"/>
              </a:ext>
            </a:extLst>
          </p:cNvPr>
          <p:cNvSpPr/>
          <p:nvPr/>
        </p:nvSpPr>
        <p:spPr>
          <a:xfrm>
            <a:off x="5400675" y="3816349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Shows monitoring status: Stopped or Active</a:t>
            </a:r>
            <a:endParaRPr kumimoji="1"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429A60D8-0DEF-C054-1123-28DD30A2626F}"/>
              </a:ext>
            </a:extLst>
          </p:cNvPr>
          <p:cNvSpPr/>
          <p:nvPr/>
        </p:nvSpPr>
        <p:spPr>
          <a:xfrm>
            <a:off x="3240087" y="4608511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5. Latency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8884A7E-9AB8-82BF-10EE-C35967685D11}"/>
              </a:ext>
            </a:extLst>
          </p:cNvPr>
          <p:cNvSpPr/>
          <p:nvPr/>
        </p:nvSpPr>
        <p:spPr>
          <a:xfrm>
            <a:off x="5400675" y="4608511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Shows inference latency of a model</a:t>
            </a:r>
            <a:endParaRPr kumimoji="1"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43907475-FC8C-88AB-E32A-6D60C82696E3}"/>
              </a:ext>
            </a:extLst>
          </p:cNvPr>
          <p:cNvSpPr/>
          <p:nvPr/>
        </p:nvSpPr>
        <p:spPr>
          <a:xfrm>
            <a:off x="3240087" y="5400675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6. Start/Stop monitoring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92237387-1974-4A81-110C-F0E7F2E356A2}"/>
              </a:ext>
            </a:extLst>
          </p:cNvPr>
          <p:cNvSpPr/>
          <p:nvPr/>
        </p:nvSpPr>
        <p:spPr>
          <a:xfrm>
            <a:off x="5400675" y="5400675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Button to start or stop monitoring</a:t>
            </a:r>
            <a:endParaRPr kumimoji="1"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C3D9CB6E-54ED-1F75-763D-32F22DD52AE5}"/>
              </a:ext>
            </a:extLst>
          </p:cNvPr>
          <p:cNvSpPr/>
          <p:nvPr/>
        </p:nvSpPr>
        <p:spPr>
          <a:xfrm>
            <a:off x="3240087" y="3024187"/>
            <a:ext cx="2160587" cy="720725"/>
          </a:xfrm>
          <a:prstGeom prst="roundRect">
            <a:avLst>
              <a:gd name="adj" fmla="val 9518"/>
            </a:avLst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3. Countdown Bar</a:t>
            </a:r>
            <a:endParaRPr kumimoji="1" lang="ko-KR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423022FE-D38C-521C-FE20-C702AC4311B3}"/>
              </a:ext>
            </a:extLst>
          </p:cNvPr>
          <p:cNvSpPr/>
          <p:nvPr/>
        </p:nvSpPr>
        <p:spPr>
          <a:xfrm>
            <a:off x="5400675" y="3024187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rgbClr val="5EC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rgbClr val="0E9488"/>
                </a:solidFill>
                <a:latin typeface="Paperlogy 4 Regular" pitchFamily="2" charset="-127"/>
                <a:ea typeface="Paperlogy 4 Regular" pitchFamily="2" charset="-127"/>
              </a:rPr>
              <a:t>Shows countdown progress for persistent bad posture.</a:t>
            </a:r>
            <a:endParaRPr kumimoji="1" lang="ko-KR" altLang="en-US" sz="1200" dirty="0">
              <a:solidFill>
                <a:srgbClr val="0E948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D651336-2732-47CC-F737-825993CC0574}"/>
              </a:ext>
            </a:extLst>
          </p:cNvPr>
          <p:cNvSpPr/>
          <p:nvPr/>
        </p:nvSpPr>
        <p:spPr>
          <a:xfrm>
            <a:off x="854579" y="4191074"/>
            <a:ext cx="1897168" cy="325913"/>
          </a:xfrm>
          <a:prstGeom prst="rect">
            <a:avLst/>
          </a:prstGeom>
          <a:solidFill>
            <a:srgbClr val="76F8F0">
              <a:alpha val="20000"/>
            </a:srgbClr>
          </a:solidFill>
          <a:ln w="25400">
            <a:solidFill>
              <a:srgbClr val="76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76F8F0"/>
                </a:solidFill>
                <a:latin typeface="Paperlogy 9 Black" pitchFamily="2" charset="-127"/>
                <a:ea typeface="Paperlogy 9 Black" pitchFamily="2" charset="-127"/>
              </a:rPr>
              <a:t>3</a:t>
            </a:r>
            <a:endParaRPr kumimoji="1" lang="ko-KR" altLang="en-US" sz="1000" b="1" dirty="0">
              <a:solidFill>
                <a:srgbClr val="76F8F0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4314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0E17A1-E6E3-B35A-56CD-FFD527046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A7A49D86-82EE-0EA3-2413-C3ED1390B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8" y="1439863"/>
            <a:ext cx="2182383" cy="468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99DD5B-C960-B9C1-8450-6FB2C3FABDBB}"/>
              </a:ext>
            </a:extLst>
          </p:cNvPr>
          <p:cNvSpPr txBox="1"/>
          <p:nvPr/>
        </p:nvSpPr>
        <p:spPr>
          <a:xfrm>
            <a:off x="719138" y="534472"/>
            <a:ext cx="216058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App Functionality Description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0C9A2D-C358-A5AD-4A75-8381FA1002C1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Posture Correction App – Practical Features</a:t>
            </a:r>
            <a:endParaRPr kumimoji="1" lang="ko-KR" altLang="en-US" sz="2400" b="1" dirty="0">
              <a:solidFill>
                <a:srgbClr val="0E9488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4C73EF2A-F972-8631-3A6C-92552F19E78F}"/>
              </a:ext>
            </a:extLst>
          </p:cNvPr>
          <p:cNvSpPr/>
          <p:nvPr/>
        </p:nvSpPr>
        <p:spPr>
          <a:xfrm>
            <a:off x="6480266" y="1436687"/>
            <a:ext cx="4319587" cy="1082675"/>
          </a:xfrm>
          <a:prstGeom prst="roundRect">
            <a:avLst/>
          </a:prstGeom>
          <a:solidFill>
            <a:srgbClr val="5EC5C0"/>
          </a:solidFill>
          <a:ln w="9525">
            <a:noFill/>
            <a:prstDash val="solid"/>
          </a:ln>
        </p:spPr>
        <p:txBody>
          <a:bodyPr anchor="ctr" anchorCtr="0"/>
          <a:lstStyle/>
          <a:p>
            <a:r>
              <a:rPr lang="en-US" altLang="ko-KR" sz="1400" b="1" dirty="0">
                <a:latin typeface="Paperlogy 7 Bold" pitchFamily="2" charset="-127"/>
                <a:ea typeface="Paperlogy 7 Bold" pitchFamily="2" charset="-127"/>
              </a:rPr>
              <a:t>Alert Rule</a:t>
            </a:r>
          </a:p>
          <a:p>
            <a:endParaRPr lang="en" altLang="ko-KR" sz="1100" dirty="0">
              <a:latin typeface="Paperlogy 4 Regular" pitchFamily="2" charset="-127"/>
              <a:ea typeface="Paperlogy 4 Regular" pitchFamily="2" charset="-127"/>
            </a:endParaRPr>
          </a:p>
          <a:p>
            <a:r>
              <a:rPr lang="en" altLang="ko-KR" sz="1100" dirty="0">
                <a:latin typeface="Paperlogy 4 Regular" pitchFamily="2" charset="-127"/>
                <a:ea typeface="Paperlogy 4 Regular" pitchFamily="2" charset="-127"/>
              </a:rPr>
              <a:t>If bad posture continues for 8 seconds, the app sends a notification and vibration alert</a:t>
            </a:r>
            <a:endParaRPr lang="ko-KR" altLang="en-US" sz="1400" dirty="0">
              <a:latin typeface="Paperlogy 4 Regular" pitchFamily="2" charset="-127"/>
              <a:ea typeface="Paperlogy 4 Regular" pitchFamily="2" charset="-127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F8FA57B-A152-41F7-95BB-84CD2EAD4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50" y="1440000"/>
            <a:ext cx="2182383" cy="4680000"/>
          </a:xfrm>
          <a:prstGeom prst="rect">
            <a:avLst/>
          </a:prstGeom>
        </p:spPr>
      </p:pic>
      <p:sp>
        <p:nvSpPr>
          <p:cNvPr id="48" name="Shape 17">
            <a:extLst>
              <a:ext uri="{FF2B5EF4-FFF2-40B4-BE49-F238E27FC236}">
                <a16:creationId xmlns:a16="http://schemas.microsoft.com/office/drawing/2014/main" id="{4A987EC0-4329-7BF2-5DAE-0FC7EEB3E0FE}"/>
              </a:ext>
            </a:extLst>
          </p:cNvPr>
          <p:cNvSpPr/>
          <p:nvPr/>
        </p:nvSpPr>
        <p:spPr>
          <a:xfrm>
            <a:off x="6481763" y="2636837"/>
            <a:ext cx="4319587" cy="10826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 anchorCtr="0"/>
          <a:lstStyle/>
          <a:p>
            <a:r>
              <a:rPr lang="en-US" altLang="ko-KR" sz="1400" b="1" dirty="0">
                <a:latin typeface="Paperlogy 7 Bold" pitchFamily="2" charset="-127"/>
                <a:ea typeface="Paperlogy 7 Bold" pitchFamily="2" charset="-127"/>
              </a:rPr>
              <a:t>Foreground Service</a:t>
            </a:r>
          </a:p>
          <a:p>
            <a:endParaRPr lang="en" altLang="ko-KR" sz="1100" dirty="0">
              <a:latin typeface="Paperlogy 4 Regular" pitchFamily="2" charset="-127"/>
              <a:ea typeface="Paperlogy 4 Regular" pitchFamily="2" charset="-127"/>
            </a:endParaRPr>
          </a:p>
          <a:p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Runs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a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background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service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to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track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posture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even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when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using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other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apps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.</a:t>
            </a:r>
            <a:endParaRPr lang="ko-KR" altLang="en-US" sz="14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EE658C2B-4396-94E8-89C0-96D6AD86749F}"/>
              </a:ext>
            </a:extLst>
          </p:cNvPr>
          <p:cNvSpPr/>
          <p:nvPr/>
        </p:nvSpPr>
        <p:spPr>
          <a:xfrm>
            <a:off x="6481763" y="5037138"/>
            <a:ext cx="4319587" cy="10826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 anchorCtr="0"/>
          <a:lstStyle/>
          <a:p>
            <a:r>
              <a:rPr lang="ko-KR" altLang="ko-KR" sz="1400" b="1" dirty="0" err="1">
                <a:latin typeface="Paperlogy 7 Bold" pitchFamily="2" charset="-127"/>
                <a:ea typeface="Paperlogy 7 Bold" pitchFamily="2" charset="-127"/>
              </a:rPr>
              <a:t>Screen</a:t>
            </a:r>
            <a:r>
              <a:rPr lang="ko-KR" altLang="ko-KR" sz="1400" b="1" dirty="0">
                <a:latin typeface="Paperlogy 7 Bold" pitchFamily="2" charset="-127"/>
                <a:ea typeface="Paperlogy 7 Bold" pitchFamily="2" charset="-127"/>
              </a:rPr>
              <a:t>-State </a:t>
            </a:r>
            <a:r>
              <a:rPr lang="ko-KR" altLang="ko-KR" sz="1400" b="1" dirty="0" err="1">
                <a:latin typeface="Paperlogy 7 Bold" pitchFamily="2" charset="-127"/>
                <a:ea typeface="Paperlogy 7 Bold" pitchFamily="2" charset="-127"/>
              </a:rPr>
              <a:t>Lifecycle</a:t>
            </a:r>
            <a:r>
              <a:rPr lang="ko-KR" altLang="ko-KR" sz="1400" b="1" dirty="0">
                <a:latin typeface="Paperlogy 7 Bold" pitchFamily="2" charset="-127"/>
                <a:ea typeface="Paperlogy 7 Bold" pitchFamily="2" charset="-127"/>
              </a:rPr>
              <a:t> </a:t>
            </a:r>
            <a:r>
              <a:rPr lang="ko-KR" altLang="ko-KR" sz="1400" b="1" dirty="0" err="1">
                <a:latin typeface="Paperlogy 7 Bold" pitchFamily="2" charset="-127"/>
                <a:ea typeface="Paperlogy 7 Bold" pitchFamily="2" charset="-127"/>
              </a:rPr>
              <a:t>Awareness</a:t>
            </a:r>
            <a:endParaRPr lang="en-US" altLang="ko-KR" sz="1100" b="1" dirty="0">
              <a:latin typeface="Paperlogy 7 Bold" pitchFamily="2" charset="-127"/>
              <a:ea typeface="Paperlogy 7 Bold" pitchFamily="2" charset="-127"/>
            </a:endParaRPr>
          </a:p>
          <a:p>
            <a:endParaRPr lang="en" altLang="ko-KR" sz="1100" dirty="0">
              <a:latin typeface="Paperlogy 4 Regular" pitchFamily="2" charset="-127"/>
              <a:ea typeface="Paperlogy 4 Regular" pitchFamily="2" charset="-127"/>
            </a:endParaRPr>
          </a:p>
          <a:p>
            <a:r>
              <a:rPr lang="en-US" altLang="ko-KR" sz="1100" dirty="0">
                <a:latin typeface="Paperlogy 4 Regular" pitchFamily="2" charset="-127"/>
                <a:ea typeface="Paperlogy 4 Regular" pitchFamily="2" charset="-127"/>
              </a:rPr>
              <a:t>Automatically pauses sensor sampling when the screen turns off and resumes on screen unlock to save battery.</a:t>
            </a:r>
          </a:p>
        </p:txBody>
      </p:sp>
      <p:sp>
        <p:nvSpPr>
          <p:cNvPr id="50" name="Shape 17">
            <a:extLst>
              <a:ext uri="{FF2B5EF4-FFF2-40B4-BE49-F238E27FC236}">
                <a16:creationId xmlns:a16="http://schemas.microsoft.com/office/drawing/2014/main" id="{4FDE9694-6F6D-D01F-FA3E-FE5F1469364C}"/>
              </a:ext>
            </a:extLst>
          </p:cNvPr>
          <p:cNvSpPr/>
          <p:nvPr/>
        </p:nvSpPr>
        <p:spPr>
          <a:xfrm>
            <a:off x="6481763" y="3836987"/>
            <a:ext cx="4319587" cy="10826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 anchorCtr="0"/>
          <a:lstStyle/>
          <a:p>
            <a:r>
              <a:rPr lang="en-US" altLang="ko-KR" sz="1400" b="1" dirty="0">
                <a:latin typeface="Paperlogy 7 Bold" pitchFamily="2" charset="-127"/>
                <a:ea typeface="Paperlogy 7 Bold" pitchFamily="2" charset="-127"/>
              </a:rPr>
              <a:t>Adaptive Vibration Feedback</a:t>
            </a:r>
          </a:p>
          <a:p>
            <a:endParaRPr lang="en" altLang="ko-KR" sz="1100" dirty="0">
              <a:latin typeface="Paperlogy 4 Regular" pitchFamily="2" charset="-127"/>
              <a:ea typeface="Paperlogy 4 Regular" pitchFamily="2" charset="-127"/>
            </a:endParaRPr>
          </a:p>
          <a:p>
            <a:r>
              <a:rPr lang="en-US" altLang="ko-KR" sz="1100" dirty="0">
                <a:latin typeface="Paperlogy 4 Regular" pitchFamily="2" charset="-127"/>
                <a:ea typeface="Paperlogy 4 Regular" pitchFamily="2" charset="-127"/>
              </a:rPr>
              <a:t>Vibration intensity and frequency vary depending on posture severity</a:t>
            </a:r>
          </a:p>
        </p:txBody>
      </p:sp>
    </p:spTree>
    <p:extLst>
      <p:ext uri="{BB962C8B-B14F-4D97-AF65-F5344CB8AC3E}">
        <p14:creationId xmlns:p14="http://schemas.microsoft.com/office/powerpoint/2010/main" val="201156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E992F-520E-DEF4-E227-0B00C96A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mo_screen recording">
            <a:hlinkClick r:id="" action="ppaction://media"/>
            <a:extLst>
              <a:ext uri="{FF2B5EF4-FFF2-40B4-BE49-F238E27FC236}">
                <a16:creationId xmlns:a16="http://schemas.microsoft.com/office/drawing/2014/main" id="{0F35854E-2380-9D4A-A645-70C0E9A4E80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48944" y="3175"/>
            <a:ext cx="3022600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2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51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8F3AE-0101-8B3A-73AB-C62DA79A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5F0632-7F57-C440-9BDB-4D69D75D9F1B}"/>
              </a:ext>
            </a:extLst>
          </p:cNvPr>
          <p:cNvSpPr txBox="1"/>
          <p:nvPr/>
        </p:nvSpPr>
        <p:spPr>
          <a:xfrm>
            <a:off x="719138" y="534472"/>
            <a:ext cx="45605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Comparison of Before/After Optimization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4C58F-0826-F415-74F1-5296B15CF46C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Improving Accuracy and Latency</a:t>
            </a:r>
            <a:endParaRPr kumimoji="1" lang="ko-KR" altLang="en-US" sz="2400" b="1" dirty="0">
              <a:solidFill>
                <a:srgbClr val="0E9488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837EF666-957A-CBD4-C3EE-72EAB7F73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462789"/>
              </p:ext>
            </p:extLst>
          </p:nvPr>
        </p:nvGraphicFramePr>
        <p:xfrm>
          <a:off x="719138" y="1759281"/>
          <a:ext cx="4681538" cy="1800226"/>
        </p:xfrm>
        <a:graphic>
          <a:graphicData uri="http://schemas.openxmlformats.org/drawingml/2006/table">
            <a:tbl>
              <a:tblPr/>
              <a:tblGrid>
                <a:gridCol w="1208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4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Metric</a:t>
                      </a:r>
                      <a:endParaRPr lang="en-US" sz="1200" b="1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Before Filtering</a:t>
                      </a:r>
                      <a:endParaRPr lang="en-US" sz="1200" b="1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After Filtering</a:t>
                      </a:r>
                      <a:endParaRPr lang="en-US" sz="1200" b="1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8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rgbClr val="334155"/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Test Accuracy</a:t>
                      </a:r>
                      <a:endParaRPr lang="en-US" sz="1200" b="1" i="0" dirty="0"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Paperlogy 4 Regular" pitchFamily="2" charset="-127"/>
                          <a:ea typeface="Paperlogy 4 Regular" pitchFamily="2" charset="-127"/>
                          <a:cs typeface="Helvetica Neue" pitchFamily="34" charset="-120"/>
                        </a:rPr>
                        <a:t>90.72%</a:t>
                      </a:r>
                      <a:endParaRPr lang="en-US" sz="1200" dirty="0">
                        <a:latin typeface="Paperlogy 4 Regular" pitchFamily="2" charset="-127"/>
                        <a:ea typeface="Paperlogy 4 Regular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dirty="0">
                          <a:solidFill>
                            <a:srgbClr val="0E9488"/>
                          </a:solidFill>
                          <a:latin typeface="Paperlogy 9 Black" pitchFamily="2" charset="-127"/>
                          <a:ea typeface="Paperlogy 9 Black" pitchFamily="2" charset="-127"/>
                          <a:cs typeface="Helvetica Neue" pitchFamily="34" charset="-120"/>
                        </a:rPr>
                        <a:t>92.90%</a:t>
                      </a:r>
                      <a:endParaRPr lang="en-US" sz="1600" b="1" i="0" dirty="0">
                        <a:solidFill>
                          <a:srgbClr val="0E9488"/>
                        </a:solidFill>
                        <a:latin typeface="Paperlogy 9 Black" pitchFamily="2" charset="-127"/>
                        <a:ea typeface="Paperlogy 9 Black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EC5C0">
                        <a:alpha val="3211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8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latin typeface="Paperlogy 7 Bold" pitchFamily="2" charset="-127"/>
                          <a:ea typeface="Paperlogy 7 Bold" pitchFamily="2" charset="-127"/>
                          <a:cs typeface="Helvetica Neue" charset="0"/>
                        </a:rPr>
                        <a:t>Macro F1</a:t>
                      </a: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Paperlogy 4 Regular" pitchFamily="2" charset="-127"/>
                          <a:ea typeface="Paperlogy 4 Regular" pitchFamily="2" charset="-127"/>
                          <a:cs typeface="Helvetica Neue" charset="0"/>
                        </a:rPr>
                        <a:t>90.68%</a:t>
                      </a: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dirty="0">
                          <a:solidFill>
                            <a:srgbClr val="0E9488"/>
                          </a:solidFill>
                          <a:latin typeface="Paperlogy 9 Black" pitchFamily="2" charset="-127"/>
                          <a:ea typeface="Paperlogy 9 Black" pitchFamily="2" charset="-127"/>
                          <a:cs typeface="Helvetica Neue" charset="0"/>
                        </a:rPr>
                        <a:t>92.88%</a:t>
                      </a: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EC5C0">
                        <a:alpha val="3211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AA03837-78AE-34C7-5258-207FD7949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62426"/>
              </p:ext>
            </p:extLst>
          </p:nvPr>
        </p:nvGraphicFramePr>
        <p:xfrm>
          <a:off x="6119815" y="1759280"/>
          <a:ext cx="4681536" cy="1800224"/>
        </p:xfrm>
        <a:graphic>
          <a:graphicData uri="http://schemas.openxmlformats.org/drawingml/2006/table">
            <a:tbl>
              <a:tblPr/>
              <a:tblGrid>
                <a:gridCol w="1309722">
                  <a:extLst>
                    <a:ext uri="{9D8B030D-6E8A-4147-A177-3AD203B41FA5}">
                      <a16:colId xmlns:a16="http://schemas.microsoft.com/office/drawing/2014/main" val="2899625660"/>
                    </a:ext>
                  </a:extLst>
                </a:gridCol>
                <a:gridCol w="1685907">
                  <a:extLst>
                    <a:ext uri="{9D8B030D-6E8A-4147-A177-3AD203B41FA5}">
                      <a16:colId xmlns:a16="http://schemas.microsoft.com/office/drawing/2014/main" val="1042327723"/>
                    </a:ext>
                  </a:extLst>
                </a:gridCol>
                <a:gridCol w="1685907">
                  <a:extLst>
                    <a:ext uri="{9D8B030D-6E8A-4147-A177-3AD203B41FA5}">
                      <a16:colId xmlns:a16="http://schemas.microsoft.com/office/drawing/2014/main" val="143911454"/>
                    </a:ext>
                  </a:extLst>
                </a:gridCol>
              </a:tblGrid>
              <a:tr h="544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Model</a:t>
                      </a:r>
                      <a:endParaRPr lang="en-US" sz="1200" b="1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solidFill>
                            <a:srgbClr val="334155"/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FP32 </a:t>
                      </a:r>
                      <a:r>
                        <a:rPr lang="en-US" altLang="ko-KR" sz="1200" b="1" i="0" dirty="0" err="1">
                          <a:solidFill>
                            <a:srgbClr val="334155"/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TFLite</a:t>
                      </a:r>
                      <a:endParaRPr lang="en-US" altLang="ko-KR" sz="1200" b="1" i="0" dirty="0"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solidFill>
                            <a:srgbClr val="334155"/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INT8 </a:t>
                      </a:r>
                      <a:r>
                        <a:rPr lang="en-US" altLang="ko-KR" sz="1200" b="1" i="0" dirty="0" err="1">
                          <a:solidFill>
                            <a:srgbClr val="334155"/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TFLite</a:t>
                      </a:r>
                      <a:endParaRPr lang="en-US" altLang="ko-KR" sz="1200" b="1" i="0" dirty="0"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63147"/>
                  </a:ext>
                </a:extLst>
              </a:tr>
              <a:tr h="6279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rgbClr val="334155"/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Size</a:t>
                      </a:r>
                      <a:endParaRPr lang="en-US" sz="1200" b="1" i="0" dirty="0"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aperlogy 4 Regular" pitchFamily="2" charset="-127"/>
                          <a:ea typeface="Paperlogy 4 Regular" pitchFamily="2" charset="-127"/>
                          <a:cs typeface="Helvetica Neue" pitchFamily="34" charset="-120"/>
                        </a:rPr>
                        <a:t>190 KB</a:t>
                      </a:r>
                      <a:endParaRPr 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aperlogy 4 Regular" pitchFamily="2" charset="-127"/>
                        <a:ea typeface="Paperlogy 4 Regular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dirty="0">
                          <a:solidFill>
                            <a:srgbClr val="0E9488"/>
                          </a:solidFill>
                          <a:latin typeface="Paperlogy 9 Black" pitchFamily="2" charset="-127"/>
                          <a:ea typeface="Paperlogy 9 Black" pitchFamily="2" charset="-127"/>
                          <a:cs typeface="Helvetica Neue" pitchFamily="34" charset="-120"/>
                        </a:rPr>
                        <a:t>65KB</a:t>
                      </a:r>
                      <a:endParaRPr lang="en-US" sz="1600" b="1" i="0" dirty="0">
                        <a:solidFill>
                          <a:srgbClr val="0E9488"/>
                        </a:solidFill>
                        <a:latin typeface="Paperlogy 9 Black" pitchFamily="2" charset="-127"/>
                        <a:ea typeface="Paperlogy 9 Black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EC5C0">
                        <a:alpha val="3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857328"/>
                  </a:ext>
                </a:extLst>
              </a:tr>
              <a:tr h="6279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latin typeface="Paperlogy 7 Bold" pitchFamily="2" charset="-127"/>
                          <a:ea typeface="Paperlogy 7 Bold" pitchFamily="2" charset="-127"/>
                          <a:cs typeface="Helvetica Neue" charset="0"/>
                        </a:rPr>
                        <a:t>Latency</a:t>
                      </a: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Paperlogy 4 Regular" pitchFamily="2" charset="-127"/>
                          <a:ea typeface="Paperlogy 4 Regular" pitchFamily="2" charset="-127"/>
                          <a:cs typeface="Helvetica Neue" charset="0"/>
                        </a:rPr>
                        <a:t>0.1485ms</a:t>
                      </a: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dirty="0">
                          <a:solidFill>
                            <a:srgbClr val="0E9488"/>
                          </a:solidFill>
                          <a:latin typeface="Paperlogy 9 Black" pitchFamily="2" charset="-127"/>
                          <a:ea typeface="Paperlogy 9 Black" pitchFamily="2" charset="-127"/>
                          <a:cs typeface="Helvetica Neue" charset="0"/>
                        </a:rPr>
                        <a:t>0.1045ms</a:t>
                      </a:r>
                      <a:endParaRPr lang="en-US" sz="1800" b="1" i="0" dirty="0">
                        <a:solidFill>
                          <a:srgbClr val="0E9488"/>
                        </a:solidFill>
                        <a:latin typeface="Paperlogy 9 Black" pitchFamily="2" charset="-127"/>
                        <a:ea typeface="Paperlogy 9 Black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EC5C0">
                        <a:alpha val="3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0697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2B1B0E4-3991-A437-732A-A37834A02DAD}"/>
              </a:ext>
            </a:extLst>
          </p:cNvPr>
          <p:cNvSpPr txBox="1"/>
          <p:nvPr/>
        </p:nvSpPr>
        <p:spPr>
          <a:xfrm>
            <a:off x="704236" y="3919869"/>
            <a:ext cx="469643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7500" lvl="1" indent="-285750" algn="l">
              <a:buFont typeface="Arial" panose="020B0604020202020204" pitchFamily="34" charset="0"/>
              <a:buChar char="•"/>
            </a:pPr>
            <a:r>
              <a:rPr lang="ko-KR" altLang="ko-KR" sz="1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Before</a:t>
            </a:r>
            <a:r>
              <a:rPr lang="ko-KR" altLang="ko-KR" sz="1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(</a:t>
            </a:r>
            <a:r>
              <a:rPr lang="ko-KR" altLang="ko-KR" sz="1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Raw</a:t>
            </a:r>
            <a:r>
              <a:rPr lang="ko-KR" altLang="ko-KR" sz="1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Windows):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90.72%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Accuracy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, 90.68% Macro-F1.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Slouching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detection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suffered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from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transitional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noise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  <a:p>
            <a:pPr marL="317500" lvl="1" indent="-285750" algn="l">
              <a:buFont typeface="Arial" panose="020B0604020202020204" pitchFamily="34" charset="0"/>
              <a:buChar char="•"/>
            </a:pPr>
            <a:r>
              <a:rPr lang="ko-KR" altLang="ko-KR" sz="1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After</a:t>
            </a:r>
            <a:r>
              <a:rPr lang="ko-KR" altLang="ko-KR" sz="1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(0.25s / 12-row </a:t>
            </a:r>
            <a:r>
              <a:rPr lang="ko-KR" altLang="ko-KR" sz="1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margin</a:t>
            </a:r>
            <a:r>
              <a:rPr lang="ko-KR" altLang="ko-KR" sz="1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removed</a:t>
            </a:r>
            <a:r>
              <a:rPr lang="ko-KR" altLang="ko-KR" sz="1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):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92.90% </a:t>
            </a: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Accuracy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(+2.18%)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and 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92.88% Macro-F1 (+2.20%)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A859BD-71ED-0CCF-55EB-749394F5F20C}"/>
              </a:ext>
            </a:extLst>
          </p:cNvPr>
          <p:cNvSpPr txBox="1"/>
          <p:nvPr/>
        </p:nvSpPr>
        <p:spPr>
          <a:xfrm>
            <a:off x="6119815" y="3919869"/>
            <a:ext cx="46815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275" lvl="1" indent="-295275" algn="l">
              <a:buFont typeface="Arial" panose="020B0604020202020204" pitchFamily="34" charset="0"/>
              <a:buChar char="•"/>
            </a:pP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Model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Size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: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A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chiev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ed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a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~66% </a:t>
            </a: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size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reduction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for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resource-constrained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environments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  <a:p>
            <a:pPr marL="295275" lvl="1" indent="-295275">
              <a:buFont typeface="Arial" panose="020B0604020202020204" pitchFamily="34" charset="0"/>
              <a:buChar char="•"/>
            </a:pPr>
            <a:r>
              <a:rPr lang="en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Inference Latency: 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On invoke-only latency, the quantized INT8 model was 29.6% faster than the FP32 model on a Samsung Galaxy S23 Ultra.</a:t>
            </a:r>
            <a:endParaRPr lang="ko-KR" altLang="ko-KR" sz="140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88B80A-360C-2570-B082-F207097F8504}"/>
              </a:ext>
            </a:extLst>
          </p:cNvPr>
          <p:cNvSpPr txBox="1"/>
          <p:nvPr/>
        </p:nvSpPr>
        <p:spPr>
          <a:xfrm>
            <a:off x="704236" y="1366208"/>
            <a:ext cx="46964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Noisy</a:t>
            </a:r>
            <a:r>
              <a:rPr lang="ko-KR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 </a:t>
            </a:r>
            <a:r>
              <a:rPr lang="ko-KR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Boundary</a:t>
            </a:r>
            <a:r>
              <a:rPr lang="ko-KR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 </a:t>
            </a:r>
            <a:r>
              <a:rPr lang="ko-KR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Filtering</a:t>
            </a:r>
            <a:endParaRPr lang="ko-KR" altLang="ko-KR" sz="1400" b="1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51CB71-9337-39A7-7FA1-DB9F1F585F1E}"/>
              </a:ext>
            </a:extLst>
          </p:cNvPr>
          <p:cNvSpPr txBox="1"/>
          <p:nvPr/>
        </p:nvSpPr>
        <p:spPr>
          <a:xfrm>
            <a:off x="6119815" y="1366208"/>
            <a:ext cx="46964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Model</a:t>
            </a:r>
            <a:r>
              <a:rPr lang="ko-KR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 </a:t>
            </a:r>
            <a:r>
              <a:rPr lang="ko-KR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Quantization</a:t>
            </a:r>
            <a:endParaRPr lang="ko-KR" altLang="ko-KR" sz="1400" b="1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7 Bold" pitchFamily="2" charset="-127"/>
              <a:ea typeface="Paperlogy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3970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FB0AE-547D-8829-07B6-C08EDC5C8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977F53-E896-C36B-9B8B-14DFDB8C3D42}"/>
              </a:ext>
            </a:extLst>
          </p:cNvPr>
          <p:cNvSpPr txBox="1"/>
          <p:nvPr/>
        </p:nvSpPr>
        <p:spPr>
          <a:xfrm>
            <a:off x="719138" y="534472"/>
            <a:ext cx="45605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Project Timeline &amp; Contribution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ECA07-FFF3-5703-F1C5-3DBF8EBF6245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Full pipeline: collection to real-time inference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D415E3-8F2D-9015-59F9-D3AE282A4E5E}"/>
              </a:ext>
            </a:extLst>
          </p:cNvPr>
          <p:cNvSpPr txBox="1"/>
          <p:nvPr/>
        </p:nvSpPr>
        <p:spPr>
          <a:xfrm>
            <a:off x="1260476" y="1371189"/>
            <a:ext cx="89995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Handled the entire pipeline independently, from data collection to app implementation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30946B1-76FF-D162-8533-FDF09E840422}"/>
              </a:ext>
            </a:extLst>
          </p:cNvPr>
          <p:cNvSpPr/>
          <p:nvPr/>
        </p:nvSpPr>
        <p:spPr>
          <a:xfrm>
            <a:off x="704237" y="1800225"/>
            <a:ext cx="720000" cy="720000"/>
          </a:xfrm>
          <a:prstGeom prst="ellipse">
            <a:avLst/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Phase</a:t>
            </a:r>
          </a:p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1</a:t>
            </a:r>
            <a:endParaRPr kumimoji="1" lang="ko-KR" altLang="en-US" sz="10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7158861-F86B-A170-8BE6-07B0C11818C4}"/>
              </a:ext>
            </a:extLst>
          </p:cNvPr>
          <p:cNvSpPr/>
          <p:nvPr/>
        </p:nvSpPr>
        <p:spPr>
          <a:xfrm>
            <a:off x="704237" y="2879725"/>
            <a:ext cx="720000" cy="720000"/>
          </a:xfrm>
          <a:prstGeom prst="ellipse">
            <a:avLst/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Phase</a:t>
            </a:r>
          </a:p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2</a:t>
            </a:r>
            <a:endParaRPr kumimoji="1" lang="ko-KR" altLang="en-US" sz="10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7ADAFF0-4129-3F3D-7B75-3B5A5DA45706}"/>
              </a:ext>
            </a:extLst>
          </p:cNvPr>
          <p:cNvSpPr/>
          <p:nvPr/>
        </p:nvSpPr>
        <p:spPr>
          <a:xfrm>
            <a:off x="704237" y="3960813"/>
            <a:ext cx="720000" cy="720000"/>
          </a:xfrm>
          <a:prstGeom prst="ellipse">
            <a:avLst/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Phase</a:t>
            </a:r>
          </a:p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3</a:t>
            </a:r>
            <a:endParaRPr kumimoji="1" lang="ko-KR" altLang="en-US" sz="10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F54D9C4-1DFC-7B95-41C5-9867BF177216}"/>
              </a:ext>
            </a:extLst>
          </p:cNvPr>
          <p:cNvSpPr/>
          <p:nvPr/>
        </p:nvSpPr>
        <p:spPr>
          <a:xfrm>
            <a:off x="704237" y="5041038"/>
            <a:ext cx="720000" cy="720000"/>
          </a:xfrm>
          <a:prstGeom prst="ellipse">
            <a:avLst/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Phase</a:t>
            </a:r>
            <a:b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</a:br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4</a:t>
            </a:r>
            <a:endParaRPr kumimoji="1" lang="ko-KR" altLang="en-US" sz="10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CD1B51-F3DE-A338-4406-4AAC981F2B90}"/>
              </a:ext>
            </a:extLst>
          </p:cNvPr>
          <p:cNvSpPr txBox="1"/>
          <p:nvPr/>
        </p:nvSpPr>
        <p:spPr>
          <a:xfrm>
            <a:off x="1698688" y="5045918"/>
            <a:ext cx="896897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Polish &amp; </a:t>
            </a: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Wrap-Up</a:t>
            </a:r>
            <a:endParaRPr lang="ko-KR" altLang="ko-KR" sz="1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Polished minor features for practicality</a:t>
            </a:r>
            <a:endParaRPr lang="en-US" altLang="ko-KR" sz="12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Prepared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final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demonstration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materials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  <a:endParaRPr lang="ko-KR" altLang="ko-KR" sz="1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12172-09C8-E371-58E4-AE881CFCA1D4}"/>
              </a:ext>
            </a:extLst>
          </p:cNvPr>
          <p:cNvSpPr txBox="1"/>
          <p:nvPr/>
        </p:nvSpPr>
        <p:spPr>
          <a:xfrm>
            <a:off x="1698689" y="3960813"/>
            <a:ext cx="893850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On-Device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Integration</a:t>
            </a:r>
            <a:endParaRPr lang="ko-KR" altLang="ko-KR" sz="1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aperlogy 4 Regular" pitchFamily="2" charset="-127"/>
                <a:ea typeface="Paperlogy 4 Regular" pitchFamily="2" charset="-127"/>
              </a:rPr>
              <a:t>Developed</a:t>
            </a:r>
            <a:r>
              <a:rPr lang="ko-KR" altLang="ko-KR" sz="12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latin typeface="Paperlogy 4 Regular" pitchFamily="2" charset="-127"/>
                <a:ea typeface="Paperlogy 4 Regular" pitchFamily="2" charset="-127"/>
              </a:rPr>
              <a:t>the</a:t>
            </a:r>
            <a:r>
              <a:rPr lang="ko-KR" altLang="ko-KR" sz="12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latin typeface="Paperlogy 4 Regular" pitchFamily="2" charset="-127"/>
                <a:ea typeface="Paperlogy 4 Regular" pitchFamily="2" charset="-127"/>
              </a:rPr>
              <a:t>real-time</a:t>
            </a:r>
            <a:r>
              <a:rPr lang="ko-KR" altLang="ko-KR" sz="12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latin typeface="Paperlogy 4 Regular" pitchFamily="2" charset="-127"/>
                <a:ea typeface="Paperlogy 4 Regular" pitchFamily="2" charset="-127"/>
              </a:rPr>
              <a:t>posture</a:t>
            </a:r>
            <a:r>
              <a:rPr lang="ko-KR" altLang="ko-KR" sz="12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latin typeface="Paperlogy 4 Regular" pitchFamily="2" charset="-127"/>
                <a:ea typeface="Paperlogy 4 Regular" pitchFamily="2" charset="-127"/>
              </a:rPr>
              <a:t>monitoring</a:t>
            </a:r>
            <a:r>
              <a:rPr lang="ko-KR" altLang="ko-KR" sz="12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en-US" altLang="ko-KR" sz="1200" dirty="0">
                <a:latin typeface="Paperlogy 4 Regular" pitchFamily="2" charset="-127"/>
                <a:ea typeface="Paperlogy 4 Regular" pitchFamily="2" charset="-127"/>
              </a:rPr>
              <a:t>App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aperlogy 4 Regular" pitchFamily="2" charset="-127"/>
                <a:ea typeface="Paperlogy 4 Regular" pitchFamily="2" charset="-127"/>
              </a:rPr>
              <a:t>Integrated </a:t>
            </a:r>
            <a:r>
              <a:rPr lang="en-US" altLang="ko-KR" sz="1200" dirty="0" err="1">
                <a:latin typeface="Paperlogy 4 Regular" pitchFamily="2" charset="-127"/>
                <a:ea typeface="Paperlogy 4 Regular" pitchFamily="2" charset="-127"/>
              </a:rPr>
              <a:t>TFlite</a:t>
            </a:r>
            <a:r>
              <a:rPr lang="en-US" altLang="ko-KR" sz="1200" dirty="0">
                <a:latin typeface="Paperlogy 4 Regular" pitchFamily="2" charset="-127"/>
                <a:ea typeface="Paperlogy 4 Regular" pitchFamily="2" charset="-127"/>
              </a:rPr>
              <a:t> inference</a:t>
            </a:r>
            <a:endParaRPr lang="ko-KR" altLang="ko-KR" sz="12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8EDA32-3D5C-5941-B4CE-80C75EC50667}"/>
              </a:ext>
            </a:extLst>
          </p:cNvPr>
          <p:cNvSpPr txBox="1"/>
          <p:nvPr/>
        </p:nvSpPr>
        <p:spPr>
          <a:xfrm>
            <a:off x="1698688" y="1800225"/>
            <a:ext cx="893614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Tooling &amp; Data Collection</a:t>
            </a:r>
            <a:endParaRPr lang="ko-KR" altLang="ko-KR" sz="1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Developed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IMUDataCollectorApp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for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Android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endParaRPr lang="en-US" altLang="ko-KR" sz="12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Collected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16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separate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labeled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CSV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sessions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(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posture_session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_*.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csv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)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under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various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contexts</a:t>
            </a:r>
            <a:endParaRPr lang="ko-KR" altLang="ko-KR" sz="12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CC5E19-AE20-D770-61E8-6DF109BDFADA}"/>
              </a:ext>
            </a:extLst>
          </p:cNvPr>
          <p:cNvSpPr txBox="1"/>
          <p:nvPr/>
        </p:nvSpPr>
        <p:spPr>
          <a:xfrm>
            <a:off x="1698689" y="2883595"/>
            <a:ext cx="896897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Preprocessing</a:t>
            </a:r>
            <a:r>
              <a:rPr lang="en-US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&amp; </a:t>
            </a:r>
            <a:r>
              <a:rPr lang="ko-KR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Training</a:t>
            </a:r>
            <a:endParaRPr lang="ko-KR" altLang="ko-KR" sz="1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Implemented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preprocessing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pipeline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(50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Hz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resampling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segmentation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transition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margin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trimming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).</a:t>
            </a:r>
            <a:endParaRPr lang="en-US" altLang="ko-KR" sz="12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Performed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cross-session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test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split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validation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A30DFB7-C88A-BDB3-6E1C-01580B749286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1064237" y="2520225"/>
            <a:ext cx="0" cy="359500"/>
          </a:xfrm>
          <a:prstGeom prst="straightConnector1">
            <a:avLst/>
          </a:prstGeom>
          <a:ln w="25400">
            <a:solidFill>
              <a:srgbClr val="5EC5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0286376-FA55-6D40-BFFC-086B0C939986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1064237" y="3599725"/>
            <a:ext cx="0" cy="361088"/>
          </a:xfrm>
          <a:prstGeom prst="straightConnector1">
            <a:avLst/>
          </a:prstGeom>
          <a:ln w="25400">
            <a:solidFill>
              <a:srgbClr val="5EC5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81C0EC9-BC4F-4A98-7DDB-371416587184}"/>
              </a:ext>
            </a:extLst>
          </p:cNvPr>
          <p:cNvCxnSpPr>
            <a:cxnSpLocks/>
          </p:cNvCxnSpPr>
          <p:nvPr/>
        </p:nvCxnSpPr>
        <p:spPr>
          <a:xfrm>
            <a:off x="1064237" y="4679225"/>
            <a:ext cx="0" cy="361088"/>
          </a:xfrm>
          <a:prstGeom prst="straightConnector1">
            <a:avLst/>
          </a:prstGeom>
          <a:ln w="25400">
            <a:solidFill>
              <a:srgbClr val="5EC5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938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2EE6FD-A352-077C-1024-585DB3BD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393CFC6A-A18C-8D07-F1EB-EBCB68CE6C5F}"/>
              </a:ext>
            </a:extLst>
          </p:cNvPr>
          <p:cNvGrpSpPr/>
          <p:nvPr/>
        </p:nvGrpSpPr>
        <p:grpSpPr>
          <a:xfrm>
            <a:off x="728951" y="873480"/>
            <a:ext cx="10062587" cy="4733215"/>
            <a:chOff x="704237" y="1027823"/>
            <a:chExt cx="10062587" cy="473321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92DB76D-9A4B-82C8-A4F0-11AA0C04268B}"/>
                </a:ext>
              </a:extLst>
            </p:cNvPr>
            <p:cNvSpPr txBox="1"/>
            <p:nvPr/>
          </p:nvSpPr>
          <p:spPr>
            <a:xfrm>
              <a:off x="704237" y="1027823"/>
              <a:ext cx="10062587" cy="923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6000" b="1" dirty="0">
                  <a:solidFill>
                    <a:srgbClr val="0E9488"/>
                  </a:solidFill>
                  <a:latin typeface="Paperlogy 9 Black" pitchFamily="2" charset="-127"/>
                  <a:ea typeface="Paperlogy 9 Black" pitchFamily="2" charset="-127"/>
                </a:rPr>
                <a:t>Thank You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C39AC5C-551B-2C9E-0FF8-1934B4CD420F}"/>
                </a:ext>
              </a:extLst>
            </p:cNvPr>
            <p:cNvSpPr txBox="1"/>
            <p:nvPr/>
          </p:nvSpPr>
          <p:spPr>
            <a:xfrm>
              <a:off x="2855853" y="5406967"/>
              <a:ext cx="5759354" cy="3540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 err="1">
                  <a:latin typeface="Paperlogy 4 Regular" pitchFamily="2" charset="-127"/>
                  <a:ea typeface="Paperlogy 4 Regular" pitchFamily="2" charset="-127"/>
                </a:rPr>
                <a:t>https</a:t>
              </a:r>
              <a:r>
                <a:rPr lang="ko-KR" altLang="en-US" dirty="0">
                  <a:latin typeface="Paperlogy 4 Regular" pitchFamily="2" charset="-127"/>
                  <a:ea typeface="Paperlogy 4 Regular" pitchFamily="2" charset="-127"/>
                </a:rPr>
                <a:t>://</a:t>
              </a:r>
              <a:r>
                <a:rPr lang="ko-KR" altLang="en-US" dirty="0" err="1">
                  <a:latin typeface="Paperlogy 4 Regular" pitchFamily="2" charset="-127"/>
                  <a:ea typeface="Paperlogy 4 Regular" pitchFamily="2" charset="-127"/>
                </a:rPr>
                <a:t>github.com</a:t>
              </a:r>
              <a:r>
                <a:rPr lang="ko-KR" altLang="en-US" dirty="0">
                  <a:latin typeface="Paperlogy 4 Regular" pitchFamily="2" charset="-127"/>
                  <a:ea typeface="Paperlogy 4 Regular" pitchFamily="2" charset="-127"/>
                </a:rPr>
                <a:t>/13oris/</a:t>
              </a:r>
              <a:r>
                <a:rPr lang="ko-KR" altLang="en-US" dirty="0" err="1">
                  <a:latin typeface="Paperlogy 4 Regular" pitchFamily="2" charset="-127"/>
                  <a:ea typeface="Paperlogy 4 Regular" pitchFamily="2" charset="-127"/>
                </a:rPr>
                <a:t>PostureDetection</a:t>
              </a:r>
              <a:endParaRPr lang="ko-KR" altLang="en-US" dirty="0">
                <a:latin typeface="Paperlogy 4 Regular" pitchFamily="2" charset="-127"/>
                <a:ea typeface="Paperlogy 4 Regular" pitchFamily="2" charset="-127"/>
              </a:endParaRPr>
            </a:p>
          </p:txBody>
        </p:sp>
        <p:pic>
          <p:nvPicPr>
            <p:cNvPr id="13" name="그래픽 12">
              <a:extLst>
                <a:ext uri="{FF2B5EF4-FFF2-40B4-BE49-F238E27FC236}">
                  <a16:creationId xmlns:a16="http://schemas.microsoft.com/office/drawing/2014/main" id="{9EE77596-6E89-299E-21F4-B088E2EF17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94875" y="2130369"/>
              <a:ext cx="2881312" cy="2881310"/>
            </a:xfrm>
            <a:prstGeom prst="rect">
              <a:avLst/>
            </a:prstGeom>
          </p:spPr>
        </p:pic>
      </p:grp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495C6D80-9DD2-362C-8796-7F41A652D910}"/>
              </a:ext>
            </a:extLst>
          </p:cNvPr>
          <p:cNvSpPr/>
          <p:nvPr/>
        </p:nvSpPr>
        <p:spPr>
          <a:xfrm rot="16200000">
            <a:off x="5577267" y="4680744"/>
            <a:ext cx="365953" cy="719138"/>
          </a:xfrm>
          <a:prstGeom prst="rightArrow">
            <a:avLst/>
          </a:prstGeom>
          <a:solidFill>
            <a:srgbClr val="0E94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0912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A032F-2E86-FA1B-935B-2D44B650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29DFC2-8E76-C4ED-DFE4-7D82F707C01C}"/>
              </a:ext>
            </a:extLst>
          </p:cNvPr>
          <p:cNvSpPr txBox="1"/>
          <p:nvPr/>
        </p:nvSpPr>
        <p:spPr>
          <a:xfrm>
            <a:off x="719138" y="534472"/>
            <a:ext cx="216058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App Functionality Description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A450C6-97C6-0436-AB7A-655D2F032967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IMU Data Collector App</a:t>
            </a:r>
            <a:endParaRPr kumimoji="1" lang="ko-KR" altLang="en-US" sz="2400" b="1" dirty="0">
              <a:solidFill>
                <a:srgbClr val="0E9488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4B41B-FC72-D80D-2372-820ADAE33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8" y="1439813"/>
            <a:ext cx="2182383" cy="4680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A93C04-BC73-8D00-3BF8-EC7591557D34}"/>
              </a:ext>
            </a:extLst>
          </p:cNvPr>
          <p:cNvSpPr/>
          <p:nvPr/>
        </p:nvSpPr>
        <p:spPr>
          <a:xfrm>
            <a:off x="803786" y="2814330"/>
            <a:ext cx="2005781" cy="548301"/>
          </a:xfrm>
          <a:prstGeom prst="rect">
            <a:avLst/>
          </a:prstGeom>
          <a:solidFill>
            <a:srgbClr val="461D1D">
              <a:alpha val="49103"/>
            </a:srgbClr>
          </a:solidFill>
          <a:ln w="25400">
            <a:solidFill>
              <a:srgbClr val="FE6C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FE6C6B"/>
                </a:solidFill>
                <a:latin typeface="Paperlogy 9 Black" pitchFamily="2" charset="-127"/>
                <a:ea typeface="Paperlogy 9 Black" pitchFamily="2" charset="-127"/>
              </a:rPr>
              <a:t>1</a:t>
            </a:r>
            <a:endParaRPr kumimoji="1" lang="ko-KR" altLang="en-US" sz="1000" b="1" dirty="0">
              <a:solidFill>
                <a:srgbClr val="FE6C6B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1890E0-7630-5C94-C4F5-B74E3031C419}"/>
              </a:ext>
            </a:extLst>
          </p:cNvPr>
          <p:cNvSpPr/>
          <p:nvPr/>
        </p:nvSpPr>
        <p:spPr>
          <a:xfrm>
            <a:off x="803786" y="3412513"/>
            <a:ext cx="2005781" cy="187938"/>
          </a:xfrm>
          <a:prstGeom prst="rect">
            <a:avLst/>
          </a:prstGeom>
          <a:solidFill>
            <a:srgbClr val="461D1D">
              <a:alpha val="49103"/>
            </a:srgbClr>
          </a:solidFill>
          <a:ln w="25400">
            <a:solidFill>
              <a:srgbClr val="FE6C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FE6C6B"/>
                </a:solidFill>
                <a:latin typeface="Paperlogy 9 Black" pitchFamily="2" charset="-127"/>
                <a:ea typeface="Paperlogy 9 Black" pitchFamily="2" charset="-127"/>
              </a:rPr>
              <a:t>2</a:t>
            </a:r>
            <a:endParaRPr kumimoji="1" lang="ko-KR" altLang="en-US" sz="1000" b="1" dirty="0">
              <a:solidFill>
                <a:srgbClr val="FE6C6B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9B51DC4-899F-257F-0061-3F3EFBD989CB}"/>
              </a:ext>
            </a:extLst>
          </p:cNvPr>
          <p:cNvSpPr/>
          <p:nvPr/>
        </p:nvSpPr>
        <p:spPr>
          <a:xfrm>
            <a:off x="803786" y="3772875"/>
            <a:ext cx="2005781" cy="297680"/>
          </a:xfrm>
          <a:prstGeom prst="rect">
            <a:avLst/>
          </a:prstGeom>
          <a:solidFill>
            <a:srgbClr val="461D1D">
              <a:alpha val="49103"/>
            </a:srgbClr>
          </a:solidFill>
          <a:ln w="25400">
            <a:solidFill>
              <a:srgbClr val="FE6C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FE6C6B"/>
                </a:solidFill>
                <a:latin typeface="Paperlogy 9 Black" pitchFamily="2" charset="-127"/>
                <a:ea typeface="Paperlogy 9 Black" pitchFamily="2" charset="-127"/>
              </a:rPr>
              <a:t>3</a:t>
            </a:r>
            <a:endParaRPr kumimoji="1" lang="ko-KR" altLang="en-US" sz="1000" b="1" dirty="0">
              <a:solidFill>
                <a:srgbClr val="FE6C6B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B8C64D6-2564-24B5-0A1D-2DD070A5B671}"/>
              </a:ext>
            </a:extLst>
          </p:cNvPr>
          <p:cNvSpPr/>
          <p:nvPr/>
        </p:nvSpPr>
        <p:spPr>
          <a:xfrm>
            <a:off x="803786" y="4175792"/>
            <a:ext cx="2005781" cy="297680"/>
          </a:xfrm>
          <a:prstGeom prst="rect">
            <a:avLst/>
          </a:prstGeom>
          <a:solidFill>
            <a:srgbClr val="461D1D">
              <a:alpha val="49103"/>
            </a:srgbClr>
          </a:solidFill>
          <a:ln w="25400">
            <a:solidFill>
              <a:srgbClr val="FE6C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FE6C6B"/>
                </a:solidFill>
                <a:latin typeface="Paperlogy 9 Black" pitchFamily="2" charset="-127"/>
                <a:ea typeface="Paperlogy 9 Black" pitchFamily="2" charset="-127"/>
              </a:rPr>
              <a:t>4</a:t>
            </a:r>
            <a:endParaRPr kumimoji="1" lang="ko-KR" altLang="en-US" sz="1000" b="1" dirty="0">
              <a:solidFill>
                <a:srgbClr val="FE6C6B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189C369-4312-1C60-6DE4-727ACFA32951}"/>
              </a:ext>
            </a:extLst>
          </p:cNvPr>
          <p:cNvSpPr/>
          <p:nvPr/>
        </p:nvSpPr>
        <p:spPr>
          <a:xfrm>
            <a:off x="803786" y="4588307"/>
            <a:ext cx="2005781" cy="927589"/>
          </a:xfrm>
          <a:prstGeom prst="rect">
            <a:avLst/>
          </a:prstGeom>
          <a:solidFill>
            <a:srgbClr val="461D1D">
              <a:alpha val="49103"/>
            </a:srgbClr>
          </a:solidFill>
          <a:ln w="25400">
            <a:solidFill>
              <a:srgbClr val="FE6C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FE6C6B"/>
                </a:solidFill>
                <a:latin typeface="Paperlogy 9 Black" pitchFamily="2" charset="-127"/>
                <a:ea typeface="Paperlogy 9 Black" pitchFamily="2" charset="-127"/>
              </a:rPr>
              <a:t>5</a:t>
            </a:r>
            <a:endParaRPr kumimoji="1" lang="ko-KR" altLang="en-US" sz="1000" b="1" dirty="0">
              <a:solidFill>
                <a:srgbClr val="FE6C6B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EFB683D1-EFB4-C5E2-81E9-5DE64E0F774C}"/>
              </a:ext>
            </a:extLst>
          </p:cNvPr>
          <p:cNvSpPr/>
          <p:nvPr/>
        </p:nvSpPr>
        <p:spPr>
          <a:xfrm>
            <a:off x="3240087" y="1439863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1. Status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66F7D0C7-9A66-7CDF-9457-8C25D214071D}"/>
              </a:ext>
            </a:extLst>
          </p:cNvPr>
          <p:cNvSpPr/>
          <p:nvPr/>
        </p:nvSpPr>
        <p:spPr>
          <a:xfrm>
            <a:off x="5400675" y="1439863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Shows the Session ID, Status of data collecting, Calibration status, and time elapsed for data collection</a:t>
            </a:r>
            <a:endParaRPr kumimoji="1" lang="ko-KR" altLang="en-US" sz="1200" dirty="0">
              <a:solidFill>
                <a:schemeClr val="bg1">
                  <a:lumMod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2A3A9BBF-EBDD-CAFE-E5CD-33CA058453E4}"/>
              </a:ext>
            </a:extLst>
          </p:cNvPr>
          <p:cNvSpPr/>
          <p:nvPr/>
        </p:nvSpPr>
        <p:spPr>
          <a:xfrm>
            <a:off x="3240087" y="2430066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2. Calibration Button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A2B8A9EE-0F2D-4925-5EE3-2C83F34D8CF1}"/>
              </a:ext>
            </a:extLst>
          </p:cNvPr>
          <p:cNvSpPr/>
          <p:nvPr/>
        </p:nvSpPr>
        <p:spPr>
          <a:xfrm>
            <a:off x="5400675" y="2430066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Calibrates user’s natural upright position for 30 seconds</a:t>
            </a:r>
            <a:endParaRPr kumimoji="1" lang="ko-KR" altLang="en-US" sz="1200" dirty="0">
              <a:solidFill>
                <a:schemeClr val="bg1">
                  <a:lumMod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676B5887-0E6E-C9D8-D6AC-C5E6E3916420}"/>
              </a:ext>
            </a:extLst>
          </p:cNvPr>
          <p:cNvSpPr/>
          <p:nvPr/>
        </p:nvSpPr>
        <p:spPr>
          <a:xfrm>
            <a:off x="3240087" y="4410472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4. Context Selector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45CC5C6A-779D-997F-EA2B-72CBB4896A2B}"/>
              </a:ext>
            </a:extLst>
          </p:cNvPr>
          <p:cNvSpPr/>
          <p:nvPr/>
        </p:nvSpPr>
        <p:spPr>
          <a:xfrm>
            <a:off x="5400675" y="4410472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You can select three contexts(Standing, Sitting, Commuting) for data collecting</a:t>
            </a:r>
            <a:endParaRPr kumimoji="1"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3DF4BA21-1E40-0B09-A18D-A538DF1D6794}"/>
              </a:ext>
            </a:extLst>
          </p:cNvPr>
          <p:cNvSpPr/>
          <p:nvPr/>
        </p:nvSpPr>
        <p:spPr>
          <a:xfrm>
            <a:off x="3240087" y="5400675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5. Label Selector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1BDFF302-1AB5-7E09-B380-D1D182F1712B}"/>
              </a:ext>
            </a:extLst>
          </p:cNvPr>
          <p:cNvSpPr/>
          <p:nvPr/>
        </p:nvSpPr>
        <p:spPr>
          <a:xfrm>
            <a:off x="5400675" y="5400675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You can manually select 3 labels(Upright, Mild Forward Flexion, Severe Looking Down)</a:t>
            </a:r>
            <a:endParaRPr kumimoji="1"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D441C9F9-C3B1-5605-F0FA-C32829BABBE5}"/>
              </a:ext>
            </a:extLst>
          </p:cNvPr>
          <p:cNvSpPr/>
          <p:nvPr/>
        </p:nvSpPr>
        <p:spPr>
          <a:xfrm>
            <a:off x="3240087" y="3420269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3. Start/Stop Button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28225BFF-225E-B6EE-183A-9454325350D2}"/>
              </a:ext>
            </a:extLst>
          </p:cNvPr>
          <p:cNvSpPr/>
          <p:nvPr/>
        </p:nvSpPr>
        <p:spPr>
          <a:xfrm>
            <a:off x="5400675" y="3420269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Starts or stops data collecting</a:t>
            </a:r>
            <a:endParaRPr kumimoji="1" lang="ko-KR" altLang="en-US" sz="1200" dirty="0">
              <a:solidFill>
                <a:schemeClr val="bg1">
                  <a:lumMod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0509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46082</TotalTime>
  <Words>700</Words>
  <Application>Microsoft Macintosh PowerPoint</Application>
  <PresentationFormat>사용자 지정</PresentationFormat>
  <Paragraphs>176</Paragraphs>
  <Slides>10</Slides>
  <Notes>2</Notes>
  <HiddenSlides>1</HiddenSlides>
  <MMClips>1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0" baseType="lpstr">
      <vt:lpstr>Paperlogy 9 Black</vt:lpstr>
      <vt:lpstr>NanumSquareOTF</vt:lpstr>
      <vt:lpstr>Calibri Light</vt:lpstr>
      <vt:lpstr>Arial</vt:lpstr>
      <vt:lpstr>Calibri</vt:lpstr>
      <vt:lpstr>Paperlogy 4 Regular</vt:lpstr>
      <vt:lpstr>Paperlogy 6 SemiBold</vt:lpstr>
      <vt:lpstr>Paperlogy 7 Bold</vt:lpstr>
      <vt:lpstr>Paperlogy 8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유일한</dc:creator>
  <cp:keywords/>
  <dc:description/>
  <cp:lastModifiedBy>현종 박</cp:lastModifiedBy>
  <cp:revision>32</cp:revision>
  <dcterms:created xsi:type="dcterms:W3CDTF">2022-06-20T09:07:39Z</dcterms:created>
  <dcterms:modified xsi:type="dcterms:W3CDTF">2026-06-01T13:21:19Z</dcterms:modified>
  <cp:category/>
</cp:coreProperties>
</file>